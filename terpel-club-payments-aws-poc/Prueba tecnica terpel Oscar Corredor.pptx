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  <p:sldMasterId id="2147483764" r:id="rId5"/>
  </p:sldMasterIdLst>
  <p:notesMasterIdLst>
    <p:notesMasterId r:id="rId16"/>
  </p:notesMasterIdLst>
  <p:sldIdLst>
    <p:sldId id="396" r:id="rId6"/>
    <p:sldId id="397" r:id="rId7"/>
    <p:sldId id="412" r:id="rId8"/>
    <p:sldId id="407" r:id="rId9"/>
    <p:sldId id="408" r:id="rId10"/>
    <p:sldId id="413" r:id="rId11"/>
    <p:sldId id="409" r:id="rId12"/>
    <p:sldId id="410" r:id="rId13"/>
    <p:sldId id="411" r:id="rId14"/>
    <p:sldId id="399" r:id="rId15"/>
  </p:sldIdLst>
  <p:sldSz cx="12192000" cy="6858000"/>
  <p:notesSz cx="6858000" cy="9144000"/>
  <p:custDataLst>
    <p:tags r:id="rId17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car Leonardo Corredor Silva" initials="OLCS" lastIdx="1" clrIdx="0">
    <p:extLst>
      <p:ext uri="{19B8F6BF-5375-455C-9EA6-DF929625EA0E}">
        <p15:presenceInfo xmlns:p15="http://schemas.microsoft.com/office/powerpoint/2012/main" userId="S-1-5-21-1170496801-2482589087-207577976-634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0576EA"/>
    <a:srgbClr val="5B9BD5"/>
    <a:srgbClr val="56AAFF"/>
    <a:srgbClr val="024563"/>
    <a:srgbClr val="05A9F5"/>
    <a:srgbClr val="615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65691" autoAdjust="0"/>
  </p:normalViewPr>
  <p:slideViewPr>
    <p:cSldViewPr snapToGrid="0">
      <p:cViewPr varScale="1">
        <p:scale>
          <a:sx n="71" d="100"/>
          <a:sy n="71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92A9B-DC21-4663-8933-DA3E1DDA8144}" type="datetimeFigureOut">
              <a:rPr lang="es-CO" smtClean="0"/>
              <a:t>23/12/2025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4D984-B52E-4D4D-A390-B934D0E7501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3618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Adicional, basa su desarrollo en los principios SOLID, en especial el principio de Responsabilidad Unica, Abierto y Cerrado, y el uso efectivo de capas de abstracción, facilitando su lectura, entendimiento, mantenimiento y escalabilidad.</a:t>
            </a: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20247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2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68295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3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76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4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09650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5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999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6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59935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7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93161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8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64302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9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06993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2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4D984-B52E-4D4D-A390-B934D0E7501F}" type="slidenum">
              <a:rPr lang="es-CO" smtClean="0"/>
              <a:t>10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090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8.sv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1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F98B0-1969-4B0D-B39C-719F77064B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A0175121-4C90-40A9-B147-E4149E5190AE}"/>
              </a:ext>
            </a:extLst>
          </p:cNvPr>
          <p:cNvSpPr/>
          <p:nvPr userDrawn="1"/>
        </p:nvSpPr>
        <p:spPr>
          <a:xfrm>
            <a:off x="8301789" y="-866274"/>
            <a:ext cx="4066673" cy="4066673"/>
          </a:xfrm>
          <a:prstGeom prst="arc">
            <a:avLst>
              <a:gd name="adj1" fmla="val 1409913"/>
              <a:gd name="adj2" fmla="val 12880072"/>
            </a:avLst>
          </a:prstGeom>
          <a:ln w="19050">
            <a:solidFill>
              <a:schemeClr val="bg1">
                <a:alpha val="1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56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45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31360-7E41-4248-8AEF-AC858AB643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9000">
                <a:schemeClr val="accent1">
                  <a:lumMod val="5000"/>
                  <a:lumOff val="95000"/>
                  <a:alpha val="0"/>
                </a:schemeClr>
              </a:gs>
              <a:gs pos="66000">
                <a:schemeClr val="accent1">
                  <a:alpha val="58000"/>
                </a:schemeClr>
              </a:gs>
              <a:gs pos="80000">
                <a:schemeClr val="accent1">
                  <a:alpha val="61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10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1625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1FE28-12EC-4903-A460-E890754C1903}"/>
              </a:ext>
            </a:extLst>
          </p:cNvPr>
          <p:cNvSpPr/>
          <p:nvPr userDrawn="1"/>
        </p:nvSpPr>
        <p:spPr>
          <a:xfrm>
            <a:off x="323530" y="6357257"/>
            <a:ext cx="11868470" cy="3396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8DF3A5-76B0-4E36-B0C8-90B00A8736A3}"/>
              </a:ext>
            </a:extLst>
          </p:cNvPr>
          <p:cNvSpPr/>
          <p:nvPr userDrawn="1"/>
        </p:nvSpPr>
        <p:spPr>
          <a:xfrm>
            <a:off x="323530" y="6349287"/>
            <a:ext cx="565116" cy="347603"/>
          </a:xfrm>
          <a:custGeom>
            <a:avLst/>
            <a:gdLst>
              <a:gd name="connsiteX0" fmla="*/ 5086770 w 5086770"/>
              <a:gd name="connsiteY0" fmla="*/ 1174706 h 3128874"/>
              <a:gd name="connsiteX1" fmla="*/ 5086770 w 5086770"/>
              <a:gd name="connsiteY1" fmla="*/ 1184663 h 3128874"/>
              <a:gd name="connsiteX2" fmla="*/ 5079830 w 5086770"/>
              <a:gd name="connsiteY2" fmla="*/ 1185820 h 3128874"/>
              <a:gd name="connsiteX3" fmla="*/ 5078289 w 5086770"/>
              <a:gd name="connsiteY3" fmla="*/ 1182737 h 3128874"/>
              <a:gd name="connsiteX4" fmla="*/ 5078289 w 5086770"/>
              <a:gd name="connsiteY4" fmla="*/ 1179654 h 3128874"/>
              <a:gd name="connsiteX5" fmla="*/ 1690658 w 5086770"/>
              <a:gd name="connsiteY5" fmla="*/ 810655 h 3128874"/>
              <a:gd name="connsiteX6" fmla="*/ 1349061 w 5086770"/>
              <a:gd name="connsiteY6" fmla="*/ 1934928 h 3128874"/>
              <a:gd name="connsiteX7" fmla="*/ 2035854 w 5086770"/>
              <a:gd name="connsiteY7" fmla="*/ 1934928 h 3128874"/>
              <a:gd name="connsiteX8" fmla="*/ 3765314 w 5086770"/>
              <a:gd name="connsiteY8" fmla="*/ 0 h 3128874"/>
              <a:gd name="connsiteX9" fmla="*/ 4465138 w 5086770"/>
              <a:gd name="connsiteY9" fmla="*/ 0 h 3128874"/>
              <a:gd name="connsiteX10" fmla="*/ 4675955 w 5086770"/>
              <a:gd name="connsiteY10" fmla="*/ 0 h 3128874"/>
              <a:gd name="connsiteX11" fmla="*/ 4659036 w 5086770"/>
              <a:gd name="connsiteY11" fmla="*/ 34412 h 3128874"/>
              <a:gd name="connsiteX12" fmla="*/ 4651327 w 5086770"/>
              <a:gd name="connsiteY12" fmla="*/ 45203 h 3128874"/>
              <a:gd name="connsiteX13" fmla="*/ 4648245 w 5086770"/>
              <a:gd name="connsiteY13" fmla="*/ 51368 h 3128874"/>
              <a:gd name="connsiteX14" fmla="*/ 4483319 w 5086770"/>
              <a:gd name="connsiteY14" fmla="*/ 361184 h 3128874"/>
              <a:gd name="connsiteX15" fmla="*/ 4480236 w 5086770"/>
              <a:gd name="connsiteY15" fmla="*/ 373515 h 3128874"/>
              <a:gd name="connsiteX16" fmla="*/ 4474071 w 5086770"/>
              <a:gd name="connsiteY16" fmla="*/ 398176 h 3128874"/>
              <a:gd name="connsiteX17" fmla="*/ 4450950 w 5086770"/>
              <a:gd name="connsiteY17" fmla="*/ 498367 h 3128874"/>
              <a:gd name="connsiteX18" fmla="*/ 4440161 w 5086770"/>
              <a:gd name="connsiteY18" fmla="*/ 527652 h 3128874"/>
              <a:gd name="connsiteX19" fmla="*/ 4441700 w 5086770"/>
              <a:gd name="connsiteY19" fmla="*/ 539983 h 3128874"/>
              <a:gd name="connsiteX20" fmla="*/ 4437078 w 5086770"/>
              <a:gd name="connsiteY20" fmla="*/ 561562 h 3128874"/>
              <a:gd name="connsiteX21" fmla="*/ 4433995 w 5086770"/>
              <a:gd name="connsiteY21" fmla="*/ 576976 h 3128874"/>
              <a:gd name="connsiteX22" fmla="*/ 4433994 w 5086770"/>
              <a:gd name="connsiteY22" fmla="*/ 578519 h 3128874"/>
              <a:gd name="connsiteX23" fmla="*/ 4413956 w 5086770"/>
              <a:gd name="connsiteY23" fmla="*/ 797393 h 3128874"/>
              <a:gd name="connsiteX24" fmla="*/ 4438619 w 5086770"/>
              <a:gd name="connsiteY24" fmla="*/ 996230 h 3128874"/>
              <a:gd name="connsiteX25" fmla="*/ 4433995 w 5086770"/>
              <a:gd name="connsiteY25" fmla="*/ 1016268 h 3128874"/>
              <a:gd name="connsiteX26" fmla="*/ 4435536 w 5086770"/>
              <a:gd name="connsiteY26" fmla="*/ 1025517 h 3128874"/>
              <a:gd name="connsiteX27" fmla="*/ 4437078 w 5086770"/>
              <a:gd name="connsiteY27" fmla="*/ 1027057 h 3128874"/>
              <a:gd name="connsiteX28" fmla="*/ 4432452 w 5086770"/>
              <a:gd name="connsiteY28" fmla="*/ 1048636 h 3128874"/>
              <a:gd name="connsiteX29" fmla="*/ 4413956 w 5086770"/>
              <a:gd name="connsiteY29" fmla="*/ 1085630 h 3128874"/>
              <a:gd name="connsiteX30" fmla="*/ 4196623 w 5086770"/>
              <a:gd name="connsiteY30" fmla="*/ 1389280 h 3128874"/>
              <a:gd name="connsiteX31" fmla="*/ 4085645 w 5086770"/>
              <a:gd name="connsiteY31" fmla="*/ 1597365 h 3128874"/>
              <a:gd name="connsiteX32" fmla="*/ 4216661 w 5086770"/>
              <a:gd name="connsiteY32" fmla="*/ 1697556 h 3128874"/>
              <a:gd name="connsiteX33" fmla="*/ 4250571 w 5086770"/>
              <a:gd name="connsiteY33" fmla="*/ 1811617 h 3128874"/>
              <a:gd name="connsiteX34" fmla="*/ 4173502 w 5086770"/>
              <a:gd name="connsiteY34" fmla="*/ 1888685 h 3128874"/>
              <a:gd name="connsiteX35" fmla="*/ 4213578 w 5086770"/>
              <a:gd name="connsiteY35" fmla="*/ 2022784 h 3128874"/>
              <a:gd name="connsiteX36" fmla="*/ 4347678 w 5086770"/>
              <a:gd name="connsiteY36" fmla="*/ 2090605 h 3128874"/>
              <a:gd name="connsiteX37" fmla="*/ 4233616 w 5086770"/>
              <a:gd name="connsiteY37" fmla="*/ 2138388 h 3128874"/>
              <a:gd name="connsiteX38" fmla="*/ 4227451 w 5086770"/>
              <a:gd name="connsiteY38" fmla="*/ 2258616 h 3128874"/>
              <a:gd name="connsiteX39" fmla="*/ 4350761 w 5086770"/>
              <a:gd name="connsiteY39" fmla="*/ 2320270 h 3128874"/>
              <a:gd name="connsiteX40" fmla="*/ 4333805 w 5086770"/>
              <a:gd name="connsiteY40" fmla="*/ 2462077 h 3128874"/>
              <a:gd name="connsiteX41" fmla="*/ 4467905 w 5086770"/>
              <a:gd name="connsiteY41" fmla="*/ 2719486 h 3128874"/>
              <a:gd name="connsiteX42" fmla="*/ 4800655 w 5086770"/>
              <a:gd name="connsiteY42" fmla="*/ 2748491 h 3128874"/>
              <a:gd name="connsiteX43" fmla="*/ 4838191 w 5086770"/>
              <a:gd name="connsiteY43" fmla="*/ 2744074 h 3128874"/>
              <a:gd name="connsiteX44" fmla="*/ 4863823 w 5086770"/>
              <a:gd name="connsiteY44" fmla="*/ 2765476 h 3128874"/>
              <a:gd name="connsiteX45" fmla="*/ 4934321 w 5086770"/>
              <a:gd name="connsiteY45" fmla="*/ 2911083 h 3128874"/>
              <a:gd name="connsiteX46" fmla="*/ 4964162 w 5086770"/>
              <a:gd name="connsiteY46" fmla="*/ 3074402 h 3128874"/>
              <a:gd name="connsiteX47" fmla="*/ 4967647 w 5086770"/>
              <a:gd name="connsiteY47" fmla="*/ 3128874 h 3128874"/>
              <a:gd name="connsiteX48" fmla="*/ 4465138 w 5086770"/>
              <a:gd name="connsiteY48" fmla="*/ 3128874 h 3128874"/>
              <a:gd name="connsiteX49" fmla="*/ 4465138 w 5086770"/>
              <a:gd name="connsiteY49" fmla="*/ 3127460 h 3128874"/>
              <a:gd name="connsiteX50" fmla="*/ 3765314 w 5086770"/>
              <a:gd name="connsiteY50" fmla="*/ 3127460 h 3128874"/>
              <a:gd name="connsiteX51" fmla="*/ 1175459 w 5086770"/>
              <a:gd name="connsiteY51" fmla="*/ 0 h 3128874"/>
              <a:gd name="connsiteX52" fmla="*/ 2229594 w 5086770"/>
              <a:gd name="connsiteY52" fmla="*/ 0 h 3128874"/>
              <a:gd name="connsiteX53" fmla="*/ 3404781 w 5086770"/>
              <a:gd name="connsiteY53" fmla="*/ 3127460 h 3128874"/>
              <a:gd name="connsiteX54" fmla="*/ 2392789 w 5086770"/>
              <a:gd name="connsiteY54" fmla="*/ 3127460 h 3128874"/>
              <a:gd name="connsiteX55" fmla="*/ 2236317 w 5086770"/>
              <a:gd name="connsiteY55" fmla="*/ 2611186 h 3128874"/>
              <a:gd name="connsiteX56" fmla="*/ 1139165 w 5086770"/>
              <a:gd name="connsiteY56" fmla="*/ 2611186 h 3128874"/>
              <a:gd name="connsiteX57" fmla="*/ 986721 w 5086770"/>
              <a:gd name="connsiteY57" fmla="*/ 3127460 h 3128874"/>
              <a:gd name="connsiteX58" fmla="*/ 0 w 5086770"/>
              <a:gd name="connsiteY58" fmla="*/ 3127460 h 312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086770" h="3128874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05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0E8D5F8-DCBB-4697-978C-9F18383C891F}"/>
              </a:ext>
            </a:extLst>
          </p:cNvPr>
          <p:cNvSpPr/>
          <p:nvPr userDrawn="1"/>
        </p:nvSpPr>
        <p:spPr>
          <a:xfrm>
            <a:off x="0" y="161317"/>
            <a:ext cx="11191164" cy="1026038"/>
          </a:xfrm>
          <a:custGeom>
            <a:avLst/>
            <a:gdLst>
              <a:gd name="connsiteX0" fmla="*/ 0 w 11191164"/>
              <a:gd name="connsiteY0" fmla="*/ 0 h 1026038"/>
              <a:gd name="connsiteX1" fmla="*/ 10678145 w 11191164"/>
              <a:gd name="connsiteY1" fmla="*/ 0 h 1026038"/>
              <a:gd name="connsiteX2" fmla="*/ 11191164 w 11191164"/>
              <a:gd name="connsiteY2" fmla="*/ 513019 h 1026038"/>
              <a:gd name="connsiteX3" fmla="*/ 10678145 w 11191164"/>
              <a:gd name="connsiteY3" fmla="*/ 1026038 h 1026038"/>
              <a:gd name="connsiteX4" fmla="*/ 0 w 11191164"/>
              <a:gd name="connsiteY4" fmla="*/ 1026038 h 102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91164" h="1026038">
                <a:moveTo>
                  <a:pt x="0" y="0"/>
                </a:moveTo>
                <a:lnTo>
                  <a:pt x="10678145" y="0"/>
                </a:lnTo>
                <a:cubicBezTo>
                  <a:pt x="10961478" y="0"/>
                  <a:pt x="11191164" y="229686"/>
                  <a:pt x="11191164" y="513019"/>
                </a:cubicBezTo>
                <a:cubicBezTo>
                  <a:pt x="11191164" y="796352"/>
                  <a:pt x="10961478" y="1026038"/>
                  <a:pt x="10678145" y="1026038"/>
                </a:cubicBezTo>
                <a:lnTo>
                  <a:pt x="0" y="102603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20734" y="339509"/>
            <a:ext cx="9775991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FC942A5-2D0D-4483-A217-3F3729323734}"/>
              </a:ext>
            </a:extLst>
          </p:cNvPr>
          <p:cNvSpPr/>
          <p:nvPr userDrawn="1"/>
        </p:nvSpPr>
        <p:spPr>
          <a:xfrm>
            <a:off x="0" y="161317"/>
            <a:ext cx="1668083" cy="1026038"/>
          </a:xfrm>
          <a:custGeom>
            <a:avLst/>
            <a:gdLst>
              <a:gd name="connsiteX0" fmla="*/ 5086770 w 5086770"/>
              <a:gd name="connsiteY0" fmla="*/ 1174706 h 3128874"/>
              <a:gd name="connsiteX1" fmla="*/ 5086770 w 5086770"/>
              <a:gd name="connsiteY1" fmla="*/ 1184663 h 3128874"/>
              <a:gd name="connsiteX2" fmla="*/ 5079830 w 5086770"/>
              <a:gd name="connsiteY2" fmla="*/ 1185820 h 3128874"/>
              <a:gd name="connsiteX3" fmla="*/ 5078289 w 5086770"/>
              <a:gd name="connsiteY3" fmla="*/ 1182737 h 3128874"/>
              <a:gd name="connsiteX4" fmla="*/ 5078289 w 5086770"/>
              <a:gd name="connsiteY4" fmla="*/ 1179654 h 3128874"/>
              <a:gd name="connsiteX5" fmla="*/ 1690658 w 5086770"/>
              <a:gd name="connsiteY5" fmla="*/ 810655 h 3128874"/>
              <a:gd name="connsiteX6" fmla="*/ 1349061 w 5086770"/>
              <a:gd name="connsiteY6" fmla="*/ 1934928 h 3128874"/>
              <a:gd name="connsiteX7" fmla="*/ 2035854 w 5086770"/>
              <a:gd name="connsiteY7" fmla="*/ 1934928 h 3128874"/>
              <a:gd name="connsiteX8" fmla="*/ 3765314 w 5086770"/>
              <a:gd name="connsiteY8" fmla="*/ 0 h 3128874"/>
              <a:gd name="connsiteX9" fmla="*/ 4465138 w 5086770"/>
              <a:gd name="connsiteY9" fmla="*/ 0 h 3128874"/>
              <a:gd name="connsiteX10" fmla="*/ 4675955 w 5086770"/>
              <a:gd name="connsiteY10" fmla="*/ 0 h 3128874"/>
              <a:gd name="connsiteX11" fmla="*/ 4659036 w 5086770"/>
              <a:gd name="connsiteY11" fmla="*/ 34412 h 3128874"/>
              <a:gd name="connsiteX12" fmla="*/ 4651327 w 5086770"/>
              <a:gd name="connsiteY12" fmla="*/ 45203 h 3128874"/>
              <a:gd name="connsiteX13" fmla="*/ 4648245 w 5086770"/>
              <a:gd name="connsiteY13" fmla="*/ 51368 h 3128874"/>
              <a:gd name="connsiteX14" fmla="*/ 4483319 w 5086770"/>
              <a:gd name="connsiteY14" fmla="*/ 361184 h 3128874"/>
              <a:gd name="connsiteX15" fmla="*/ 4480236 w 5086770"/>
              <a:gd name="connsiteY15" fmla="*/ 373515 h 3128874"/>
              <a:gd name="connsiteX16" fmla="*/ 4474071 w 5086770"/>
              <a:gd name="connsiteY16" fmla="*/ 398176 h 3128874"/>
              <a:gd name="connsiteX17" fmla="*/ 4450950 w 5086770"/>
              <a:gd name="connsiteY17" fmla="*/ 498367 h 3128874"/>
              <a:gd name="connsiteX18" fmla="*/ 4440161 w 5086770"/>
              <a:gd name="connsiteY18" fmla="*/ 527652 h 3128874"/>
              <a:gd name="connsiteX19" fmla="*/ 4441700 w 5086770"/>
              <a:gd name="connsiteY19" fmla="*/ 539983 h 3128874"/>
              <a:gd name="connsiteX20" fmla="*/ 4437078 w 5086770"/>
              <a:gd name="connsiteY20" fmla="*/ 561562 h 3128874"/>
              <a:gd name="connsiteX21" fmla="*/ 4433995 w 5086770"/>
              <a:gd name="connsiteY21" fmla="*/ 576976 h 3128874"/>
              <a:gd name="connsiteX22" fmla="*/ 4433994 w 5086770"/>
              <a:gd name="connsiteY22" fmla="*/ 578519 h 3128874"/>
              <a:gd name="connsiteX23" fmla="*/ 4413956 w 5086770"/>
              <a:gd name="connsiteY23" fmla="*/ 797393 h 3128874"/>
              <a:gd name="connsiteX24" fmla="*/ 4438619 w 5086770"/>
              <a:gd name="connsiteY24" fmla="*/ 996230 h 3128874"/>
              <a:gd name="connsiteX25" fmla="*/ 4433995 w 5086770"/>
              <a:gd name="connsiteY25" fmla="*/ 1016268 h 3128874"/>
              <a:gd name="connsiteX26" fmla="*/ 4435536 w 5086770"/>
              <a:gd name="connsiteY26" fmla="*/ 1025517 h 3128874"/>
              <a:gd name="connsiteX27" fmla="*/ 4437078 w 5086770"/>
              <a:gd name="connsiteY27" fmla="*/ 1027057 h 3128874"/>
              <a:gd name="connsiteX28" fmla="*/ 4432452 w 5086770"/>
              <a:gd name="connsiteY28" fmla="*/ 1048636 h 3128874"/>
              <a:gd name="connsiteX29" fmla="*/ 4413956 w 5086770"/>
              <a:gd name="connsiteY29" fmla="*/ 1085630 h 3128874"/>
              <a:gd name="connsiteX30" fmla="*/ 4196623 w 5086770"/>
              <a:gd name="connsiteY30" fmla="*/ 1389280 h 3128874"/>
              <a:gd name="connsiteX31" fmla="*/ 4085645 w 5086770"/>
              <a:gd name="connsiteY31" fmla="*/ 1597365 h 3128874"/>
              <a:gd name="connsiteX32" fmla="*/ 4216661 w 5086770"/>
              <a:gd name="connsiteY32" fmla="*/ 1697556 h 3128874"/>
              <a:gd name="connsiteX33" fmla="*/ 4250571 w 5086770"/>
              <a:gd name="connsiteY33" fmla="*/ 1811617 h 3128874"/>
              <a:gd name="connsiteX34" fmla="*/ 4173502 w 5086770"/>
              <a:gd name="connsiteY34" fmla="*/ 1888685 h 3128874"/>
              <a:gd name="connsiteX35" fmla="*/ 4213578 w 5086770"/>
              <a:gd name="connsiteY35" fmla="*/ 2022784 h 3128874"/>
              <a:gd name="connsiteX36" fmla="*/ 4347678 w 5086770"/>
              <a:gd name="connsiteY36" fmla="*/ 2090605 h 3128874"/>
              <a:gd name="connsiteX37" fmla="*/ 4233616 w 5086770"/>
              <a:gd name="connsiteY37" fmla="*/ 2138388 h 3128874"/>
              <a:gd name="connsiteX38" fmla="*/ 4227451 w 5086770"/>
              <a:gd name="connsiteY38" fmla="*/ 2258616 h 3128874"/>
              <a:gd name="connsiteX39" fmla="*/ 4350761 w 5086770"/>
              <a:gd name="connsiteY39" fmla="*/ 2320270 h 3128874"/>
              <a:gd name="connsiteX40" fmla="*/ 4333805 w 5086770"/>
              <a:gd name="connsiteY40" fmla="*/ 2462077 h 3128874"/>
              <a:gd name="connsiteX41" fmla="*/ 4467905 w 5086770"/>
              <a:gd name="connsiteY41" fmla="*/ 2719486 h 3128874"/>
              <a:gd name="connsiteX42" fmla="*/ 4800655 w 5086770"/>
              <a:gd name="connsiteY42" fmla="*/ 2748491 h 3128874"/>
              <a:gd name="connsiteX43" fmla="*/ 4838191 w 5086770"/>
              <a:gd name="connsiteY43" fmla="*/ 2744074 h 3128874"/>
              <a:gd name="connsiteX44" fmla="*/ 4863823 w 5086770"/>
              <a:gd name="connsiteY44" fmla="*/ 2765476 h 3128874"/>
              <a:gd name="connsiteX45" fmla="*/ 4934321 w 5086770"/>
              <a:gd name="connsiteY45" fmla="*/ 2911083 h 3128874"/>
              <a:gd name="connsiteX46" fmla="*/ 4964162 w 5086770"/>
              <a:gd name="connsiteY46" fmla="*/ 3074402 h 3128874"/>
              <a:gd name="connsiteX47" fmla="*/ 4967647 w 5086770"/>
              <a:gd name="connsiteY47" fmla="*/ 3128874 h 3128874"/>
              <a:gd name="connsiteX48" fmla="*/ 4465138 w 5086770"/>
              <a:gd name="connsiteY48" fmla="*/ 3128874 h 3128874"/>
              <a:gd name="connsiteX49" fmla="*/ 4465138 w 5086770"/>
              <a:gd name="connsiteY49" fmla="*/ 3127460 h 3128874"/>
              <a:gd name="connsiteX50" fmla="*/ 3765314 w 5086770"/>
              <a:gd name="connsiteY50" fmla="*/ 3127460 h 3128874"/>
              <a:gd name="connsiteX51" fmla="*/ 1175459 w 5086770"/>
              <a:gd name="connsiteY51" fmla="*/ 0 h 3128874"/>
              <a:gd name="connsiteX52" fmla="*/ 2229594 w 5086770"/>
              <a:gd name="connsiteY52" fmla="*/ 0 h 3128874"/>
              <a:gd name="connsiteX53" fmla="*/ 3404781 w 5086770"/>
              <a:gd name="connsiteY53" fmla="*/ 3127460 h 3128874"/>
              <a:gd name="connsiteX54" fmla="*/ 2392789 w 5086770"/>
              <a:gd name="connsiteY54" fmla="*/ 3127460 h 3128874"/>
              <a:gd name="connsiteX55" fmla="*/ 2236317 w 5086770"/>
              <a:gd name="connsiteY55" fmla="*/ 2611186 h 3128874"/>
              <a:gd name="connsiteX56" fmla="*/ 1139165 w 5086770"/>
              <a:gd name="connsiteY56" fmla="*/ 2611186 h 3128874"/>
              <a:gd name="connsiteX57" fmla="*/ 986721 w 5086770"/>
              <a:gd name="connsiteY57" fmla="*/ 3127460 h 3128874"/>
              <a:gd name="connsiteX58" fmla="*/ 0 w 5086770"/>
              <a:gd name="connsiteY58" fmla="*/ 3127460 h 312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086770" h="3128874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1515AE-4193-4204-AAE3-28BCF655ED34}"/>
              </a:ext>
            </a:extLst>
          </p:cNvPr>
          <p:cNvSpPr/>
          <p:nvPr userDrawn="1"/>
        </p:nvSpPr>
        <p:spPr>
          <a:xfrm>
            <a:off x="11288971" y="161317"/>
            <a:ext cx="903029" cy="1026038"/>
          </a:xfrm>
          <a:custGeom>
            <a:avLst/>
            <a:gdLst>
              <a:gd name="connsiteX0" fmla="*/ 513019 w 903029"/>
              <a:gd name="connsiteY0" fmla="*/ 0 h 1026038"/>
              <a:gd name="connsiteX1" fmla="*/ 903029 w 903029"/>
              <a:gd name="connsiteY1" fmla="*/ 0 h 1026038"/>
              <a:gd name="connsiteX2" fmla="*/ 903029 w 903029"/>
              <a:gd name="connsiteY2" fmla="*/ 1026038 h 1026038"/>
              <a:gd name="connsiteX3" fmla="*/ 513019 w 903029"/>
              <a:gd name="connsiteY3" fmla="*/ 1026038 h 1026038"/>
              <a:gd name="connsiteX4" fmla="*/ 0 w 903029"/>
              <a:gd name="connsiteY4" fmla="*/ 513019 h 1026038"/>
              <a:gd name="connsiteX5" fmla="*/ 513019 w 903029"/>
              <a:gd name="connsiteY5" fmla="*/ 0 h 102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3029" h="1026038">
                <a:moveTo>
                  <a:pt x="513019" y="0"/>
                </a:moveTo>
                <a:lnTo>
                  <a:pt x="903029" y="0"/>
                </a:lnTo>
                <a:lnTo>
                  <a:pt x="903029" y="1026038"/>
                </a:lnTo>
                <a:lnTo>
                  <a:pt x="513019" y="1026038"/>
                </a:lnTo>
                <a:cubicBezTo>
                  <a:pt x="229686" y="1026038"/>
                  <a:pt x="0" y="796352"/>
                  <a:pt x="0" y="513019"/>
                </a:cubicBezTo>
                <a:cubicBezTo>
                  <a:pt x="0" y="229686"/>
                  <a:pt x="229686" y="0"/>
                  <a:pt x="51301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2C30C39C-AAA9-4761-B982-E964F936EA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32695" y="1988366"/>
            <a:ext cx="2444297" cy="244429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>
            <a:noFill/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Bring to Front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21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304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3073D1A-A4A7-4F5B-BE54-63CEAB575F6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66709" y="529965"/>
            <a:ext cx="4925290" cy="5798070"/>
          </a:xfrm>
          <a:custGeom>
            <a:avLst/>
            <a:gdLst>
              <a:gd name="connsiteX0" fmla="*/ 857449 w 4925290"/>
              <a:gd name="connsiteY0" fmla="*/ 0 h 5798070"/>
              <a:gd name="connsiteX1" fmla="*/ 4214649 w 4925290"/>
              <a:gd name="connsiteY1" fmla="*/ 0 h 5798070"/>
              <a:gd name="connsiteX2" fmla="*/ 4925290 w 4925290"/>
              <a:gd name="connsiteY2" fmla="*/ 1223176 h 5798070"/>
              <a:gd name="connsiteX3" fmla="*/ 4925290 w 4925290"/>
              <a:gd name="connsiteY3" fmla="*/ 4574894 h 5798070"/>
              <a:gd name="connsiteX4" fmla="*/ 4214649 w 4925290"/>
              <a:gd name="connsiteY4" fmla="*/ 5798070 h 5798070"/>
              <a:gd name="connsiteX5" fmla="*/ 857449 w 4925290"/>
              <a:gd name="connsiteY5" fmla="*/ 5798070 h 5798070"/>
              <a:gd name="connsiteX6" fmla="*/ 0 w 4925290"/>
              <a:gd name="connsiteY6" fmla="*/ 4322202 h 5798070"/>
              <a:gd name="connsiteX7" fmla="*/ 2152428 w 4925290"/>
              <a:gd name="connsiteY7" fmla="*/ 4322202 h 5798070"/>
              <a:gd name="connsiteX8" fmla="*/ 2979260 w 4925290"/>
              <a:gd name="connsiteY8" fmla="*/ 2899035 h 5798070"/>
              <a:gd name="connsiteX9" fmla="*/ 2152428 w 4925290"/>
              <a:gd name="connsiteY9" fmla="*/ 1475868 h 5798070"/>
              <a:gd name="connsiteX10" fmla="*/ 0 w 4925290"/>
              <a:gd name="connsiteY10" fmla="*/ 1475868 h 579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25290" h="5798070">
                <a:moveTo>
                  <a:pt x="857449" y="0"/>
                </a:moveTo>
                <a:lnTo>
                  <a:pt x="4214649" y="0"/>
                </a:lnTo>
                <a:lnTo>
                  <a:pt x="4925290" y="1223176"/>
                </a:lnTo>
                <a:lnTo>
                  <a:pt x="4925290" y="4574894"/>
                </a:lnTo>
                <a:lnTo>
                  <a:pt x="4214649" y="5798070"/>
                </a:lnTo>
                <a:lnTo>
                  <a:pt x="857449" y="5798070"/>
                </a:lnTo>
                <a:lnTo>
                  <a:pt x="0" y="4322202"/>
                </a:lnTo>
                <a:lnTo>
                  <a:pt x="2152428" y="4322202"/>
                </a:lnTo>
                <a:lnTo>
                  <a:pt x="2979260" y="2899035"/>
                </a:lnTo>
                <a:lnTo>
                  <a:pt x="2152428" y="1475868"/>
                </a:lnTo>
                <a:lnTo>
                  <a:pt x="0" y="14758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CF70162-E0C4-4E2A-B2CE-73A49347672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25108" y="2105085"/>
            <a:ext cx="4925290" cy="2647831"/>
          </a:xfrm>
          <a:custGeom>
            <a:avLst/>
            <a:gdLst>
              <a:gd name="connsiteX0" fmla="*/ 769169 w 6213231"/>
              <a:gd name="connsiteY0" fmla="*/ 0 h 2647831"/>
              <a:gd name="connsiteX1" fmla="*/ 5444062 w 6213231"/>
              <a:gd name="connsiteY1" fmla="*/ 0 h 2647831"/>
              <a:gd name="connsiteX2" fmla="*/ 6213231 w 6213231"/>
              <a:gd name="connsiteY2" fmla="*/ 1323916 h 2647831"/>
              <a:gd name="connsiteX3" fmla="*/ 5444062 w 6213231"/>
              <a:gd name="connsiteY3" fmla="*/ 2647831 h 2647831"/>
              <a:gd name="connsiteX4" fmla="*/ 769169 w 6213231"/>
              <a:gd name="connsiteY4" fmla="*/ 2647831 h 2647831"/>
              <a:gd name="connsiteX5" fmla="*/ 0 w 6213231"/>
              <a:gd name="connsiteY5" fmla="*/ 1323916 h 264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13231" h="2647831">
                <a:moveTo>
                  <a:pt x="769169" y="0"/>
                </a:moveTo>
                <a:lnTo>
                  <a:pt x="5444062" y="0"/>
                </a:lnTo>
                <a:lnTo>
                  <a:pt x="6213231" y="1323916"/>
                </a:lnTo>
                <a:lnTo>
                  <a:pt x="5444062" y="2647831"/>
                </a:lnTo>
                <a:lnTo>
                  <a:pt x="769169" y="2647831"/>
                </a:lnTo>
                <a:lnTo>
                  <a:pt x="0" y="132391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768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60586" y="0"/>
            <a:ext cx="48533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972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1AEC72C-3C89-4B08-B67E-E04E47BA30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47486" y="342900"/>
            <a:ext cx="5926499" cy="6172200"/>
          </a:xfrm>
          <a:custGeom>
            <a:avLst/>
            <a:gdLst>
              <a:gd name="connsiteX0" fmla="*/ 1240972 w 5926499"/>
              <a:gd name="connsiteY0" fmla="*/ 0 h 6172200"/>
              <a:gd name="connsiteX1" fmla="*/ 5926499 w 5926499"/>
              <a:gd name="connsiteY1" fmla="*/ 0 h 6172200"/>
              <a:gd name="connsiteX2" fmla="*/ 5926499 w 5926499"/>
              <a:gd name="connsiteY2" fmla="*/ 6172200 h 6172200"/>
              <a:gd name="connsiteX3" fmla="*/ 1240972 w 5926499"/>
              <a:gd name="connsiteY3" fmla="*/ 6172200 h 6172200"/>
              <a:gd name="connsiteX4" fmla="*/ 1240972 w 5926499"/>
              <a:gd name="connsiteY4" fmla="*/ 6015988 h 6172200"/>
              <a:gd name="connsiteX5" fmla="*/ 92399 w 5926499"/>
              <a:gd name="connsiteY5" fmla="*/ 6015988 h 6172200"/>
              <a:gd name="connsiteX6" fmla="*/ 92399 w 5926499"/>
              <a:gd name="connsiteY6" fmla="*/ 5938701 h 6172200"/>
              <a:gd name="connsiteX7" fmla="*/ 1240972 w 5926499"/>
              <a:gd name="connsiteY7" fmla="*/ 5938701 h 6172200"/>
              <a:gd name="connsiteX8" fmla="*/ 1240972 w 5926499"/>
              <a:gd name="connsiteY8" fmla="*/ 5859778 h 6172200"/>
              <a:gd name="connsiteX9" fmla="*/ 497028 w 5926499"/>
              <a:gd name="connsiteY9" fmla="*/ 5859778 h 6172200"/>
              <a:gd name="connsiteX10" fmla="*/ 497028 w 5926499"/>
              <a:gd name="connsiteY10" fmla="*/ 5668190 h 6172200"/>
              <a:gd name="connsiteX11" fmla="*/ 1240972 w 5926499"/>
              <a:gd name="connsiteY11" fmla="*/ 5668190 h 6172200"/>
              <a:gd name="connsiteX12" fmla="*/ 1240972 w 5926499"/>
              <a:gd name="connsiteY12" fmla="*/ 5589267 h 6172200"/>
              <a:gd name="connsiteX13" fmla="*/ 2775704 w 5926499"/>
              <a:gd name="connsiteY13" fmla="*/ 5589267 h 6172200"/>
              <a:gd name="connsiteX14" fmla="*/ 2775704 w 5926499"/>
              <a:gd name="connsiteY14" fmla="*/ 5511980 h 6172200"/>
              <a:gd name="connsiteX15" fmla="*/ 1240972 w 5926499"/>
              <a:gd name="connsiteY15" fmla="*/ 5511980 h 6172200"/>
              <a:gd name="connsiteX16" fmla="*/ 1240972 w 5926499"/>
              <a:gd name="connsiteY16" fmla="*/ 5222694 h 6172200"/>
              <a:gd name="connsiteX17" fmla="*/ 2993421 w 5926499"/>
              <a:gd name="connsiteY17" fmla="*/ 5222694 h 6172200"/>
              <a:gd name="connsiteX18" fmla="*/ 2993421 w 5926499"/>
              <a:gd name="connsiteY18" fmla="*/ 5031107 h 6172200"/>
              <a:gd name="connsiteX19" fmla="*/ 1240972 w 5926499"/>
              <a:gd name="connsiteY19" fmla="*/ 5031107 h 6172200"/>
              <a:gd name="connsiteX20" fmla="*/ 1240972 w 5926499"/>
              <a:gd name="connsiteY20" fmla="*/ 4922382 h 6172200"/>
              <a:gd name="connsiteX21" fmla="*/ 225578 w 5926499"/>
              <a:gd name="connsiteY21" fmla="*/ 4922382 h 6172200"/>
              <a:gd name="connsiteX22" fmla="*/ 225578 w 5926499"/>
              <a:gd name="connsiteY22" fmla="*/ 4845095 h 6172200"/>
              <a:gd name="connsiteX23" fmla="*/ 1240972 w 5926499"/>
              <a:gd name="connsiteY23" fmla="*/ 4845095 h 6172200"/>
              <a:gd name="connsiteX24" fmla="*/ 1240972 w 5926499"/>
              <a:gd name="connsiteY24" fmla="*/ 4721133 h 6172200"/>
              <a:gd name="connsiteX25" fmla="*/ 2181818 w 5926499"/>
              <a:gd name="connsiteY25" fmla="*/ 4721133 h 6172200"/>
              <a:gd name="connsiteX26" fmla="*/ 2181818 w 5926499"/>
              <a:gd name="connsiteY26" fmla="*/ 4655818 h 6172200"/>
              <a:gd name="connsiteX27" fmla="*/ 1240972 w 5926499"/>
              <a:gd name="connsiteY27" fmla="*/ 4655818 h 6172200"/>
              <a:gd name="connsiteX28" fmla="*/ 1240972 w 5926499"/>
              <a:gd name="connsiteY28" fmla="*/ 4516481 h 6172200"/>
              <a:gd name="connsiteX29" fmla="*/ 497028 w 5926499"/>
              <a:gd name="connsiteY29" fmla="*/ 4516481 h 6172200"/>
              <a:gd name="connsiteX30" fmla="*/ 497028 w 5926499"/>
              <a:gd name="connsiteY30" fmla="*/ 4439194 h 6172200"/>
              <a:gd name="connsiteX31" fmla="*/ 1240972 w 5926499"/>
              <a:gd name="connsiteY31" fmla="*/ 4439194 h 6172200"/>
              <a:gd name="connsiteX32" fmla="*/ 1240972 w 5926499"/>
              <a:gd name="connsiteY32" fmla="*/ 4321628 h 6172200"/>
              <a:gd name="connsiteX33" fmla="*/ 2347278 w 5926499"/>
              <a:gd name="connsiteY33" fmla="*/ 4321628 h 6172200"/>
              <a:gd name="connsiteX34" fmla="*/ 2347278 w 5926499"/>
              <a:gd name="connsiteY34" fmla="*/ 4130040 h 6172200"/>
              <a:gd name="connsiteX35" fmla="*/ 1240972 w 5926499"/>
              <a:gd name="connsiteY35" fmla="*/ 4130040 h 6172200"/>
              <a:gd name="connsiteX36" fmla="*/ 1240972 w 5926499"/>
              <a:gd name="connsiteY36" fmla="*/ 3828776 h 6172200"/>
              <a:gd name="connsiteX37" fmla="*/ 2347278 w 5926499"/>
              <a:gd name="connsiteY37" fmla="*/ 3828776 h 6172200"/>
              <a:gd name="connsiteX38" fmla="*/ 2347278 w 5926499"/>
              <a:gd name="connsiteY38" fmla="*/ 3751489 h 6172200"/>
              <a:gd name="connsiteX39" fmla="*/ 1240972 w 5926499"/>
              <a:gd name="connsiteY39" fmla="*/ 3751489 h 6172200"/>
              <a:gd name="connsiteX40" fmla="*/ 1240972 w 5926499"/>
              <a:gd name="connsiteY40" fmla="*/ 3567249 h 6172200"/>
              <a:gd name="connsiteX41" fmla="*/ 544605 w 5926499"/>
              <a:gd name="connsiteY41" fmla="*/ 3567249 h 6172200"/>
              <a:gd name="connsiteX42" fmla="*/ 544605 w 5926499"/>
              <a:gd name="connsiteY42" fmla="*/ 3279866 h 6172200"/>
              <a:gd name="connsiteX43" fmla="*/ 1240972 w 5926499"/>
              <a:gd name="connsiteY43" fmla="*/ 3279866 h 6172200"/>
              <a:gd name="connsiteX44" fmla="*/ 1240972 w 5926499"/>
              <a:gd name="connsiteY44" fmla="*/ 3141069 h 6172200"/>
              <a:gd name="connsiteX45" fmla="*/ 0 w 5926499"/>
              <a:gd name="connsiteY45" fmla="*/ 3141069 h 6172200"/>
              <a:gd name="connsiteX46" fmla="*/ 0 w 5926499"/>
              <a:gd name="connsiteY46" fmla="*/ 3063782 h 6172200"/>
              <a:gd name="connsiteX47" fmla="*/ 1240972 w 5926499"/>
              <a:gd name="connsiteY47" fmla="*/ 3063782 h 6172200"/>
              <a:gd name="connsiteX48" fmla="*/ 1240972 w 5926499"/>
              <a:gd name="connsiteY48" fmla="*/ 2942953 h 6172200"/>
              <a:gd name="connsiteX49" fmla="*/ 343464 w 5926499"/>
              <a:gd name="connsiteY49" fmla="*/ 2942953 h 6172200"/>
              <a:gd name="connsiteX50" fmla="*/ 343464 w 5926499"/>
              <a:gd name="connsiteY50" fmla="*/ 2865666 h 6172200"/>
              <a:gd name="connsiteX51" fmla="*/ 1240972 w 5926499"/>
              <a:gd name="connsiteY51" fmla="*/ 2865666 h 6172200"/>
              <a:gd name="connsiteX52" fmla="*/ 1240972 w 5926499"/>
              <a:gd name="connsiteY52" fmla="*/ 2770414 h 6172200"/>
              <a:gd name="connsiteX53" fmla="*/ 2020709 w 5926499"/>
              <a:gd name="connsiteY53" fmla="*/ 2770414 h 6172200"/>
              <a:gd name="connsiteX54" fmla="*/ 2020709 w 5926499"/>
              <a:gd name="connsiteY54" fmla="*/ 2705099 h 6172200"/>
              <a:gd name="connsiteX55" fmla="*/ 1240972 w 5926499"/>
              <a:gd name="connsiteY55" fmla="*/ 2705099 h 6172200"/>
              <a:gd name="connsiteX56" fmla="*/ 1240972 w 5926499"/>
              <a:gd name="connsiteY56" fmla="*/ 2453364 h 6172200"/>
              <a:gd name="connsiteX57" fmla="*/ 2113162 w 5926499"/>
              <a:gd name="connsiteY57" fmla="*/ 2453364 h 6172200"/>
              <a:gd name="connsiteX58" fmla="*/ 2113162 w 5926499"/>
              <a:gd name="connsiteY58" fmla="*/ 2261777 h 6172200"/>
              <a:gd name="connsiteX59" fmla="*/ 1240972 w 5926499"/>
              <a:gd name="connsiteY59" fmla="*/ 2261777 h 6172200"/>
              <a:gd name="connsiteX60" fmla="*/ 1240972 w 5926499"/>
              <a:gd name="connsiteY60" fmla="*/ 2065018 h 6172200"/>
              <a:gd name="connsiteX61" fmla="*/ 544605 w 5926499"/>
              <a:gd name="connsiteY61" fmla="*/ 2065018 h 6172200"/>
              <a:gd name="connsiteX62" fmla="*/ 544605 w 5926499"/>
              <a:gd name="connsiteY62" fmla="*/ 1999703 h 6172200"/>
              <a:gd name="connsiteX63" fmla="*/ 1240972 w 5926499"/>
              <a:gd name="connsiteY63" fmla="*/ 1999703 h 6172200"/>
              <a:gd name="connsiteX64" fmla="*/ 1240972 w 5926499"/>
              <a:gd name="connsiteY64" fmla="*/ 1794507 h 6172200"/>
              <a:gd name="connsiteX65" fmla="*/ 2587402 w 5926499"/>
              <a:gd name="connsiteY65" fmla="*/ 1794507 h 6172200"/>
              <a:gd name="connsiteX66" fmla="*/ 2587402 w 5926499"/>
              <a:gd name="connsiteY66" fmla="*/ 1717220 h 6172200"/>
              <a:gd name="connsiteX67" fmla="*/ 1240972 w 5926499"/>
              <a:gd name="connsiteY67" fmla="*/ 1717220 h 6172200"/>
              <a:gd name="connsiteX68" fmla="*/ 1240972 w 5926499"/>
              <a:gd name="connsiteY68" fmla="*/ 1582782 h 6172200"/>
              <a:gd name="connsiteX69" fmla="*/ 191589 w 5926499"/>
              <a:gd name="connsiteY69" fmla="*/ 1582782 h 6172200"/>
              <a:gd name="connsiteX70" fmla="*/ 191589 w 5926499"/>
              <a:gd name="connsiteY70" fmla="*/ 1391193 h 6172200"/>
              <a:gd name="connsiteX71" fmla="*/ 1240972 w 5926499"/>
              <a:gd name="connsiteY71" fmla="*/ 1391193 h 6172200"/>
              <a:gd name="connsiteX72" fmla="*/ 1240972 w 5926499"/>
              <a:gd name="connsiteY72" fmla="*/ 1256756 h 6172200"/>
              <a:gd name="connsiteX73" fmla="*/ 2981203 w 5926499"/>
              <a:gd name="connsiteY73" fmla="*/ 1256756 h 6172200"/>
              <a:gd name="connsiteX74" fmla="*/ 2981203 w 5926499"/>
              <a:gd name="connsiteY74" fmla="*/ 1179469 h 6172200"/>
              <a:gd name="connsiteX75" fmla="*/ 1240972 w 5926499"/>
              <a:gd name="connsiteY75" fmla="*/ 1179469 h 6172200"/>
              <a:gd name="connsiteX76" fmla="*/ 1240972 w 5926499"/>
              <a:gd name="connsiteY76" fmla="*/ 1024346 h 6172200"/>
              <a:gd name="connsiteX77" fmla="*/ 2051188 w 5926499"/>
              <a:gd name="connsiteY77" fmla="*/ 1024346 h 6172200"/>
              <a:gd name="connsiteX78" fmla="*/ 2051188 w 5926499"/>
              <a:gd name="connsiteY78" fmla="*/ 828402 h 6172200"/>
              <a:gd name="connsiteX79" fmla="*/ 1240972 w 5926499"/>
              <a:gd name="connsiteY79" fmla="*/ 828402 h 6172200"/>
              <a:gd name="connsiteX80" fmla="*/ 1240972 w 5926499"/>
              <a:gd name="connsiteY80" fmla="*/ 695597 h 6172200"/>
              <a:gd name="connsiteX81" fmla="*/ 579440 w 5926499"/>
              <a:gd name="connsiteY81" fmla="*/ 695597 h 6172200"/>
              <a:gd name="connsiteX82" fmla="*/ 579440 w 5926499"/>
              <a:gd name="connsiteY82" fmla="*/ 504009 h 6172200"/>
              <a:gd name="connsiteX83" fmla="*/ 1240972 w 5926499"/>
              <a:gd name="connsiteY83" fmla="*/ 504009 h 6172200"/>
              <a:gd name="connsiteX84" fmla="*/ 1240972 w 5926499"/>
              <a:gd name="connsiteY84" fmla="*/ 447943 h 6172200"/>
              <a:gd name="connsiteX85" fmla="*/ 977276 w 5926499"/>
              <a:gd name="connsiteY85" fmla="*/ 447943 h 6172200"/>
              <a:gd name="connsiteX86" fmla="*/ 977276 w 5926499"/>
              <a:gd name="connsiteY86" fmla="*/ 370656 h 6172200"/>
              <a:gd name="connsiteX87" fmla="*/ 1240972 w 5926499"/>
              <a:gd name="connsiteY87" fmla="*/ 370656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926499" h="6172200">
                <a:moveTo>
                  <a:pt x="1240972" y="0"/>
                </a:moveTo>
                <a:lnTo>
                  <a:pt x="5926499" y="0"/>
                </a:lnTo>
                <a:lnTo>
                  <a:pt x="5926499" y="6172200"/>
                </a:lnTo>
                <a:lnTo>
                  <a:pt x="1240972" y="6172200"/>
                </a:lnTo>
                <a:lnTo>
                  <a:pt x="1240972" y="6015988"/>
                </a:lnTo>
                <a:lnTo>
                  <a:pt x="92399" y="6015988"/>
                </a:lnTo>
                <a:lnTo>
                  <a:pt x="92399" y="5938701"/>
                </a:lnTo>
                <a:lnTo>
                  <a:pt x="1240972" y="5938701"/>
                </a:lnTo>
                <a:lnTo>
                  <a:pt x="1240972" y="5859778"/>
                </a:lnTo>
                <a:lnTo>
                  <a:pt x="497028" y="5859778"/>
                </a:lnTo>
                <a:lnTo>
                  <a:pt x="497028" y="5668190"/>
                </a:lnTo>
                <a:lnTo>
                  <a:pt x="1240972" y="5668190"/>
                </a:lnTo>
                <a:lnTo>
                  <a:pt x="1240972" y="5589267"/>
                </a:lnTo>
                <a:lnTo>
                  <a:pt x="2775704" y="5589267"/>
                </a:lnTo>
                <a:lnTo>
                  <a:pt x="2775704" y="5511980"/>
                </a:lnTo>
                <a:lnTo>
                  <a:pt x="1240972" y="5511980"/>
                </a:lnTo>
                <a:lnTo>
                  <a:pt x="1240972" y="5222694"/>
                </a:lnTo>
                <a:lnTo>
                  <a:pt x="2993421" y="5222694"/>
                </a:lnTo>
                <a:lnTo>
                  <a:pt x="2993421" y="5031107"/>
                </a:lnTo>
                <a:lnTo>
                  <a:pt x="1240972" y="5031107"/>
                </a:lnTo>
                <a:lnTo>
                  <a:pt x="1240972" y="4922382"/>
                </a:lnTo>
                <a:lnTo>
                  <a:pt x="225578" y="4922382"/>
                </a:lnTo>
                <a:lnTo>
                  <a:pt x="225578" y="4845095"/>
                </a:lnTo>
                <a:lnTo>
                  <a:pt x="1240972" y="4845095"/>
                </a:lnTo>
                <a:lnTo>
                  <a:pt x="1240972" y="4721133"/>
                </a:lnTo>
                <a:lnTo>
                  <a:pt x="2181818" y="4721133"/>
                </a:lnTo>
                <a:lnTo>
                  <a:pt x="2181818" y="4655818"/>
                </a:lnTo>
                <a:lnTo>
                  <a:pt x="1240972" y="4655818"/>
                </a:lnTo>
                <a:lnTo>
                  <a:pt x="1240972" y="4516481"/>
                </a:lnTo>
                <a:lnTo>
                  <a:pt x="497028" y="4516481"/>
                </a:lnTo>
                <a:lnTo>
                  <a:pt x="497028" y="4439194"/>
                </a:lnTo>
                <a:lnTo>
                  <a:pt x="1240972" y="4439194"/>
                </a:lnTo>
                <a:lnTo>
                  <a:pt x="1240972" y="4321628"/>
                </a:lnTo>
                <a:lnTo>
                  <a:pt x="2347278" y="4321628"/>
                </a:lnTo>
                <a:lnTo>
                  <a:pt x="2347278" y="4130040"/>
                </a:lnTo>
                <a:lnTo>
                  <a:pt x="1240972" y="4130040"/>
                </a:lnTo>
                <a:lnTo>
                  <a:pt x="1240972" y="3828776"/>
                </a:lnTo>
                <a:lnTo>
                  <a:pt x="2347278" y="3828776"/>
                </a:lnTo>
                <a:lnTo>
                  <a:pt x="2347278" y="3751489"/>
                </a:lnTo>
                <a:lnTo>
                  <a:pt x="1240972" y="3751489"/>
                </a:lnTo>
                <a:lnTo>
                  <a:pt x="1240972" y="3567249"/>
                </a:lnTo>
                <a:lnTo>
                  <a:pt x="544605" y="3567249"/>
                </a:lnTo>
                <a:lnTo>
                  <a:pt x="544605" y="3279866"/>
                </a:lnTo>
                <a:lnTo>
                  <a:pt x="1240972" y="3279866"/>
                </a:lnTo>
                <a:lnTo>
                  <a:pt x="1240972" y="3141069"/>
                </a:lnTo>
                <a:lnTo>
                  <a:pt x="0" y="3141069"/>
                </a:lnTo>
                <a:lnTo>
                  <a:pt x="0" y="3063782"/>
                </a:lnTo>
                <a:lnTo>
                  <a:pt x="1240972" y="3063782"/>
                </a:lnTo>
                <a:lnTo>
                  <a:pt x="1240972" y="2942953"/>
                </a:lnTo>
                <a:lnTo>
                  <a:pt x="343464" y="2942953"/>
                </a:lnTo>
                <a:lnTo>
                  <a:pt x="343464" y="2865666"/>
                </a:lnTo>
                <a:lnTo>
                  <a:pt x="1240972" y="2865666"/>
                </a:lnTo>
                <a:lnTo>
                  <a:pt x="1240972" y="2770414"/>
                </a:lnTo>
                <a:lnTo>
                  <a:pt x="2020709" y="2770414"/>
                </a:lnTo>
                <a:lnTo>
                  <a:pt x="2020709" y="2705099"/>
                </a:lnTo>
                <a:lnTo>
                  <a:pt x="1240972" y="2705099"/>
                </a:lnTo>
                <a:lnTo>
                  <a:pt x="1240972" y="2453364"/>
                </a:lnTo>
                <a:lnTo>
                  <a:pt x="2113162" y="2453364"/>
                </a:lnTo>
                <a:lnTo>
                  <a:pt x="2113162" y="2261777"/>
                </a:lnTo>
                <a:lnTo>
                  <a:pt x="1240972" y="2261777"/>
                </a:lnTo>
                <a:lnTo>
                  <a:pt x="1240972" y="2065018"/>
                </a:lnTo>
                <a:lnTo>
                  <a:pt x="544605" y="2065018"/>
                </a:lnTo>
                <a:lnTo>
                  <a:pt x="544605" y="1999703"/>
                </a:lnTo>
                <a:lnTo>
                  <a:pt x="1240972" y="1999703"/>
                </a:lnTo>
                <a:lnTo>
                  <a:pt x="1240972" y="1794507"/>
                </a:lnTo>
                <a:lnTo>
                  <a:pt x="2587402" y="1794507"/>
                </a:lnTo>
                <a:lnTo>
                  <a:pt x="2587402" y="1717220"/>
                </a:lnTo>
                <a:lnTo>
                  <a:pt x="1240972" y="1717220"/>
                </a:lnTo>
                <a:lnTo>
                  <a:pt x="1240972" y="1582782"/>
                </a:lnTo>
                <a:lnTo>
                  <a:pt x="191589" y="1582782"/>
                </a:lnTo>
                <a:lnTo>
                  <a:pt x="191589" y="1391193"/>
                </a:lnTo>
                <a:lnTo>
                  <a:pt x="1240972" y="1391193"/>
                </a:lnTo>
                <a:lnTo>
                  <a:pt x="1240972" y="1256756"/>
                </a:lnTo>
                <a:lnTo>
                  <a:pt x="2981203" y="1256756"/>
                </a:lnTo>
                <a:lnTo>
                  <a:pt x="2981203" y="1179469"/>
                </a:lnTo>
                <a:lnTo>
                  <a:pt x="1240972" y="1179469"/>
                </a:lnTo>
                <a:lnTo>
                  <a:pt x="1240972" y="1024346"/>
                </a:lnTo>
                <a:lnTo>
                  <a:pt x="2051188" y="1024346"/>
                </a:lnTo>
                <a:lnTo>
                  <a:pt x="2051188" y="828402"/>
                </a:lnTo>
                <a:lnTo>
                  <a:pt x="1240972" y="828402"/>
                </a:lnTo>
                <a:lnTo>
                  <a:pt x="1240972" y="695597"/>
                </a:lnTo>
                <a:lnTo>
                  <a:pt x="579440" y="695597"/>
                </a:lnTo>
                <a:lnTo>
                  <a:pt x="579440" y="504009"/>
                </a:lnTo>
                <a:lnTo>
                  <a:pt x="1240972" y="504009"/>
                </a:lnTo>
                <a:lnTo>
                  <a:pt x="1240972" y="447943"/>
                </a:lnTo>
                <a:lnTo>
                  <a:pt x="977276" y="447943"/>
                </a:lnTo>
                <a:lnTo>
                  <a:pt x="977276" y="370656"/>
                </a:lnTo>
                <a:lnTo>
                  <a:pt x="1240972" y="370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384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scuro Llamada con puntos pequeños sin viñeta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1643527"/>
          </a:xfrm>
        </p:spPr>
        <p:txBody>
          <a:bodyPr wrap="square" lIns="91440" r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rtl="0"/>
            <a:r>
              <a:rPr lang="es-ES" noProof="0"/>
              <a:t>Una breve introducción</a:t>
            </a:r>
            <a:br>
              <a:rPr lang="es-ES" noProof="0"/>
            </a:br>
            <a:r>
              <a:rPr lang="es-ES" noProof="0"/>
              <a:t>a los datos que revele</a:t>
            </a:r>
            <a:br>
              <a:rPr lang="es-ES" noProof="0"/>
            </a:br>
            <a:r>
              <a:rPr lang="es-ES" noProof="0"/>
              <a:t>los puntos clave uno a uno para facilitar la comprensión.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19100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800493"/>
          </a:xfrm>
          <a:prstGeom prst="rect">
            <a:avLst/>
          </a:prstGeom>
        </p:spPr>
        <p:txBody>
          <a:bodyPr lIns="146304" tIns="420624" rIns="146304" rtlCol="0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estilo de título del patrón</a:t>
            </a:r>
          </a:p>
        </p:txBody>
      </p:sp>
      <p:sp>
        <p:nvSpPr>
          <p:cNvPr id="12" name="Marcador de texto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599498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8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779896"/>
            <a:ext cx="5671764" cy="1843069"/>
          </a:xfrm>
        </p:spPr>
        <p:txBody>
          <a:bodyPr rtlCol="0"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43444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5FB0-09FB-400C-840C-8335D6D2E264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67581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54853-94C2-46F8-84C5-04C4D4D3A634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322152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14B-FB64-4711-BE55-A6D8EC430B50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45675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14107-11D4-476E-B2FD-027206C25C01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90367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56D5-FB9E-408F-8D4C-CA76678D0B77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33781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B83F3-F85C-47B5-B049-78C393A4F859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85785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C5EF8-D890-43EE-9651-010B27D76B2E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5464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3306B-C754-4F6B-BD3A-79D1E3B079DA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14619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0BCA-FF8E-46F0-9963-BA291A3CEF2A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34673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E0AE7-5619-4BB6-8F43-6859E12FC676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72503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58B08-50FF-4B6E-AD7E-01C6E3DE4626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512793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A304BDDD-2BB1-4860-96EA-F7714EE88E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Diapositiva de think-cell" r:id="rId4" imgW="592" imgH="591" progId="TCLayout.ActiveDocument.1">
                  <p:embed/>
                </p:oleObj>
              </mc:Choice>
              <mc:Fallback>
                <p:oleObj name="Diapositiva de think-cell" r:id="rId4" imgW="592" imgH="591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A304BDDD-2BB1-4860-96EA-F7714EE88E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4D8928A-C69B-45A9-9B61-84CA9888B1BC}"/>
              </a:ext>
            </a:extLst>
          </p:cNvPr>
          <p:cNvSpPr/>
          <p:nvPr userDrawn="1"/>
        </p:nvSpPr>
        <p:spPr>
          <a:xfrm>
            <a:off x="0" y="0"/>
            <a:ext cx="12191999" cy="6865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áfico 3">
            <a:extLst>
              <a:ext uri="{FF2B5EF4-FFF2-40B4-BE49-F238E27FC236}">
                <a16:creationId xmlns:a16="http://schemas.microsoft.com/office/drawing/2014/main" id="{7CA913D2-AF72-436A-A290-FFBB0BD2402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64963" y="6576101"/>
            <a:ext cx="288022" cy="2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6.emf"/><Relationship Id="rId2" Type="http://schemas.openxmlformats.org/officeDocument/2006/relationships/slideLayout" Target="../slideLayouts/slideLayout17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7" r:id="rId2"/>
    <p:sldLayoutId id="2147483739" r:id="rId3"/>
    <p:sldLayoutId id="2147483736" r:id="rId4"/>
    <p:sldLayoutId id="2147483740" r:id="rId5"/>
    <p:sldLayoutId id="2147483741" r:id="rId6"/>
    <p:sldLayoutId id="2147483742" r:id="rId7"/>
    <p:sldLayoutId id="2147483732" r:id="rId8"/>
    <p:sldLayoutId id="2147483738" r:id="rId9"/>
    <p:sldLayoutId id="2147483743" r:id="rId10"/>
    <p:sldLayoutId id="2147483745" r:id="rId11"/>
    <p:sldLayoutId id="2147483747" r:id="rId12"/>
    <p:sldLayoutId id="2147483746" r:id="rId13"/>
    <p:sldLayoutId id="2147483744" r:id="rId14"/>
    <p:sldLayoutId id="2147483748" r:id="rId15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Diapositiva de think-cell" r:id="rId16" imgW="395" imgH="394" progId="TCLayout.ActiveDocument.1">
                  <p:embed/>
                </p:oleObj>
              </mc:Choice>
              <mc:Fallback>
                <p:oleObj name="Diapositiva de think-cell" r:id="rId16" imgW="395" imgH="394" progId="TCLayout.ActiveDocument.1">
                  <p:embed/>
                  <p:pic>
                    <p:nvPicPr>
                      <p:cNvPr id="8" name="Objeto 7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E4D90-3DC8-4B37-809B-68148D979125}" type="datetime4">
              <a:rPr lang="es-CL" smtClean="0"/>
              <a:t>23 de diciembre de 2025</a:t>
            </a:fld>
            <a:endParaRPr lang="es-C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172A7-8148-4B94-ACA8-D721A4863E43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7846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9.png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0.png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1.jpe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2.png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3.png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4.png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9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-94269" y="5351997"/>
            <a:ext cx="5297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 TÉCNICA </a:t>
            </a:r>
          </a:p>
          <a:p>
            <a:pPr algn="ctr"/>
            <a:r>
              <a:rPr lang="es-MX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TERPEL</a:t>
            </a:r>
            <a:endParaRPr lang="es-CO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7497312" y="6112654"/>
            <a:ext cx="4883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Oscar Corredor</a:t>
            </a:r>
          </a:p>
        </p:txBody>
      </p:sp>
    </p:spTree>
    <p:extLst>
      <p:ext uri="{BB962C8B-B14F-4D97-AF65-F5344CB8AC3E}">
        <p14:creationId xmlns:p14="http://schemas.microsoft.com/office/powerpoint/2010/main" val="711832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8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88248" y="2644170"/>
            <a:ext cx="368760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Diagrama de Arquitectura propuesta - AWS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8500C16-1369-4C45-A2F3-87F7FAEE8E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322" y="532443"/>
            <a:ext cx="7145067" cy="59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9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5399197" y="2858044"/>
            <a:ext cx="6676262" cy="23017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>
                <a:solidFill>
                  <a:schemeClr val="tx1"/>
                </a:solidFill>
              </a:rPr>
              <a:t>BFF: </a:t>
            </a:r>
            <a:r>
              <a:rPr lang="es-MX" dirty="0">
                <a:solidFill>
                  <a:schemeClr val="tx1"/>
                </a:solidFill>
              </a:rPr>
              <a:t>contratos y tokens cortos; reduce </a:t>
            </a:r>
            <a:r>
              <a:rPr lang="es-CO" b="1" dirty="0">
                <a:solidFill>
                  <a:schemeClr val="tx1"/>
                </a:solidFill>
              </a:rPr>
              <a:t> </a:t>
            </a:r>
            <a:r>
              <a:rPr lang="es-MX" dirty="0">
                <a:solidFill>
                  <a:schemeClr val="tx1"/>
                </a:solidFill>
              </a:rPr>
              <a:t>acoplamiento</a:t>
            </a:r>
            <a:r>
              <a:rPr lang="es-CO" b="1" dirty="0">
                <a:solidFill>
                  <a:schemeClr val="tx1"/>
                </a:solidFill>
              </a:rPr>
              <a:t> </a:t>
            </a:r>
            <a:endParaRPr lang="es-MX" dirty="0">
              <a:solidFill>
                <a:schemeClr val="tx1"/>
              </a:solidFill>
            </a:endParaRPr>
          </a:p>
          <a:p>
            <a:r>
              <a:rPr lang="es-CO" b="1" dirty="0">
                <a:solidFill>
                  <a:schemeClr val="tx1"/>
                </a:solidFill>
              </a:rPr>
              <a:t>microservicios por dominio: </a:t>
            </a:r>
            <a:r>
              <a:rPr lang="es-CO" dirty="0">
                <a:solidFill>
                  <a:schemeClr val="tx1"/>
                </a:solidFill>
              </a:rPr>
              <a:t>(Pagos/Fidelización/Catálogo-Cliente).</a:t>
            </a:r>
          </a:p>
          <a:p>
            <a:r>
              <a:rPr lang="es-CO" b="1" dirty="0" err="1">
                <a:solidFill>
                  <a:schemeClr val="tx1"/>
                </a:solidFill>
              </a:rPr>
              <a:t>Clean</a:t>
            </a:r>
            <a:r>
              <a:rPr lang="es-CO" b="1" dirty="0">
                <a:solidFill>
                  <a:schemeClr val="tx1"/>
                </a:solidFill>
              </a:rPr>
              <a:t>/Hexagonal. </a:t>
            </a:r>
            <a:r>
              <a:rPr lang="es-CO" b="1" dirty="0" err="1">
                <a:solidFill>
                  <a:schemeClr val="tx1"/>
                </a:solidFill>
              </a:rPr>
              <a:t>Event-driven</a:t>
            </a:r>
            <a:r>
              <a:rPr lang="es-CO" b="1" dirty="0">
                <a:solidFill>
                  <a:schemeClr val="tx1"/>
                </a:solidFill>
              </a:rPr>
              <a:t>: </a:t>
            </a:r>
            <a:r>
              <a:rPr lang="es-MX" dirty="0">
                <a:solidFill>
                  <a:schemeClr val="tx1"/>
                </a:solidFill>
              </a:rPr>
              <a:t>eventos de transacción para integración con ERP/facturación. </a:t>
            </a:r>
          </a:p>
          <a:p>
            <a:r>
              <a:rPr lang="es-CO" b="1" dirty="0">
                <a:solidFill>
                  <a:schemeClr val="tx1"/>
                </a:solidFill>
              </a:rPr>
              <a:t>Saga</a:t>
            </a:r>
            <a:r>
              <a:rPr lang="es-CO" dirty="0">
                <a:solidFill>
                  <a:schemeClr val="tx1"/>
                </a:solidFill>
              </a:rPr>
              <a:t> con Step </a:t>
            </a:r>
            <a:r>
              <a:rPr lang="es-CO" dirty="0" err="1">
                <a:solidFill>
                  <a:schemeClr val="tx1"/>
                </a:solidFill>
              </a:rPr>
              <a:t>Functions</a:t>
            </a:r>
            <a:r>
              <a:rPr lang="es-CO" dirty="0">
                <a:solidFill>
                  <a:schemeClr val="tx1"/>
                </a:solidFill>
              </a:rPr>
              <a:t> + </a:t>
            </a:r>
            <a:r>
              <a:rPr lang="es-CO" b="1" dirty="0" err="1">
                <a:solidFill>
                  <a:schemeClr val="tx1"/>
                </a:solidFill>
              </a:rPr>
              <a:t>event-driven</a:t>
            </a:r>
            <a:r>
              <a:rPr lang="es-CO" dirty="0">
                <a:solidFill>
                  <a:schemeClr val="tx1"/>
                </a:solidFill>
              </a:rPr>
              <a:t> (</a:t>
            </a:r>
            <a:r>
              <a:rPr lang="es-CO" dirty="0" err="1">
                <a:solidFill>
                  <a:schemeClr val="tx1"/>
                </a:solidFill>
              </a:rPr>
              <a:t>EventBridge</a:t>
            </a:r>
            <a:r>
              <a:rPr lang="es-CO" dirty="0">
                <a:solidFill>
                  <a:schemeClr val="tx1"/>
                </a:solidFill>
              </a:rPr>
              <a:t>/SQS).</a:t>
            </a:r>
          </a:p>
          <a:p>
            <a:r>
              <a:rPr lang="es-CO" b="1" dirty="0">
                <a:solidFill>
                  <a:schemeClr val="tx1"/>
                </a:solidFill>
              </a:rPr>
              <a:t>Seguridad:</a:t>
            </a:r>
            <a:r>
              <a:rPr lang="es-CO" dirty="0">
                <a:solidFill>
                  <a:schemeClr val="tx1"/>
                </a:solidFill>
              </a:rPr>
              <a:t> </a:t>
            </a:r>
            <a:r>
              <a:rPr lang="es-CO" dirty="0" err="1">
                <a:solidFill>
                  <a:schemeClr val="tx1"/>
                </a:solidFill>
              </a:rPr>
              <a:t>Cognito</a:t>
            </a:r>
            <a:r>
              <a:rPr lang="es-CO" dirty="0">
                <a:solidFill>
                  <a:schemeClr val="tx1"/>
                </a:solidFill>
              </a:rPr>
              <a:t> (OAuth2/JWT), WAF, KMS, </a:t>
            </a:r>
            <a:r>
              <a:rPr lang="es-CO" dirty="0" err="1">
                <a:solidFill>
                  <a:schemeClr val="tx1"/>
                </a:solidFill>
              </a:rPr>
              <a:t>Secrets</a:t>
            </a:r>
            <a:r>
              <a:rPr lang="es-CO" dirty="0">
                <a:solidFill>
                  <a:schemeClr val="tx1"/>
                </a:solidFill>
              </a:rPr>
              <a:t> Manager, </a:t>
            </a:r>
            <a:r>
              <a:rPr lang="es-CO" dirty="0" err="1">
                <a:solidFill>
                  <a:schemeClr val="tx1"/>
                </a:solidFill>
              </a:rPr>
              <a:t>tokenización</a:t>
            </a:r>
            <a:r>
              <a:rPr lang="es-CO" dirty="0">
                <a:solidFill>
                  <a:schemeClr val="tx1"/>
                </a:solidFill>
              </a:rPr>
              <a:t> (no PAN).</a:t>
            </a:r>
          </a:p>
        </p:txBody>
      </p:sp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7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203570" y="432849"/>
            <a:ext cx="696854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Explicación y Patrón de la Arquitectura Propuesta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487355" y="2931887"/>
            <a:ext cx="4325223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Propuesta: 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Esta propuesta evoluciona la app Terpel Club manteniendo capacidades actuales (catálogo, puntos y movimientos) e incorporando un modelo de pagos móvil transaccional y seguro en AWS, con confirmación en tiempo real al comercio.</a:t>
            </a:r>
          </a:p>
          <a:p>
            <a:pPr algn="just"/>
            <a:endParaRPr lang="es-MX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La solución separa responsabilidades con un BFF para la app, microservicios para dominio de pagos/fidelización, y un flujo transaccional con Patrón SAGA + </a:t>
            </a:r>
            <a:r>
              <a:rPr lang="es-MX" sz="1700" dirty="0" err="1">
                <a:latin typeface="Arial" panose="020B0604020202020204" pitchFamily="34" charset="0"/>
                <a:cs typeface="Arial" panose="020B0604020202020204" pitchFamily="34" charset="0"/>
              </a:rPr>
              <a:t>idempotencia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 para evitar dobles cobros y garantizar consistencia.</a:t>
            </a:r>
            <a:endParaRPr lang="es-CO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3F038D3-78FA-481C-9CF2-A0990E2D70DD}"/>
              </a:ext>
            </a:extLst>
          </p:cNvPr>
          <p:cNvSpPr/>
          <p:nvPr/>
        </p:nvSpPr>
        <p:spPr>
          <a:xfrm>
            <a:off x="7027808" y="2484935"/>
            <a:ext cx="2651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O" b="1" dirty="0">
                <a:latin typeface="Arial" panose="020B0604020202020204" pitchFamily="34" charset="0"/>
                <a:cs typeface="Arial" panose="020B0604020202020204" pitchFamily="34" charset="0"/>
              </a:rPr>
              <a:t>Resumen Arquitectura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7C4793-1782-4E4C-A717-BF066B5E2CDD}"/>
              </a:ext>
            </a:extLst>
          </p:cNvPr>
          <p:cNvSpPr/>
          <p:nvPr/>
        </p:nvSpPr>
        <p:spPr>
          <a:xfrm>
            <a:off x="487355" y="1813463"/>
            <a:ext cx="1107711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1700" b="1" dirty="0">
                <a:latin typeface="Arial" panose="020B0604020202020204" pitchFamily="34" charset="0"/>
                <a:cs typeface="Arial" panose="020B0604020202020204" pitchFamily="34" charset="0"/>
              </a:rPr>
              <a:t>Contexto: 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La app actual consume servicios vía </a:t>
            </a:r>
            <a:r>
              <a:rPr lang="es-MX" sz="1700" dirty="0" err="1">
                <a:latin typeface="Arial" panose="020B0604020202020204" pitchFamily="34" charset="0"/>
                <a:cs typeface="Arial" panose="020B0604020202020204" pitchFamily="34" charset="0"/>
              </a:rPr>
              <a:t>Apigee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 (GCP) con autenticación Basic/JWT y permite catálogo,</a:t>
            </a:r>
          </a:p>
          <a:p>
            <a:pPr algn="just"/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puntos/beneficios y movimientos. Se requiere evolucionar para pagos con tarjeta y con puntos (total o parcial),</a:t>
            </a:r>
          </a:p>
          <a:p>
            <a:pPr algn="just"/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con confirmación en tiempo real al comercio.</a:t>
            </a:r>
            <a:endParaRPr lang="es-CO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5030C6-EA2E-4C36-82BC-F1F6B33E7F85}"/>
              </a:ext>
            </a:extLst>
          </p:cNvPr>
          <p:cNvSpPr/>
          <p:nvPr/>
        </p:nvSpPr>
        <p:spPr>
          <a:xfrm>
            <a:off x="5399196" y="5323439"/>
            <a:ext cx="657887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17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Nota</a:t>
            </a:r>
            <a:r>
              <a:rPr lang="es-MX" sz="17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700" dirty="0" err="1">
                <a:latin typeface="Arial" panose="020B0604020202020204" pitchFamily="34" charset="0"/>
                <a:cs typeface="Arial" panose="020B0604020202020204" pitchFamily="34" charset="0"/>
              </a:rPr>
              <a:t>Apigee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 se mantiene como borde actual y enruta hacia AWS para la propuesta; aunque se puede generar una arquitectura similar únicamente en GCP. Para pagos se agrega un </a:t>
            </a:r>
            <a:r>
              <a:rPr lang="es-MX" sz="17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 transaccional con orquestación y confirmación en tiempo real.</a:t>
            </a:r>
            <a:endParaRPr lang="es-CO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34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476530" y="704087"/>
            <a:ext cx="696854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Roles y Patrones de la Arquitectura Propuesta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7C4793-1782-4E4C-A717-BF066B5E2CDD}"/>
              </a:ext>
            </a:extLst>
          </p:cNvPr>
          <p:cNvSpPr/>
          <p:nvPr/>
        </p:nvSpPr>
        <p:spPr>
          <a:xfrm>
            <a:off x="8395994" y="2342016"/>
            <a:ext cx="31281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Patrones de diseño</a:t>
            </a:r>
            <a:r>
              <a:rPr lang="es-MX" dirty="0"/>
              <a:t>: </a:t>
            </a:r>
            <a:r>
              <a:rPr lang="es-MX" dirty="0" err="1"/>
              <a:t>Strategy</a:t>
            </a:r>
            <a:r>
              <a:rPr lang="es-MX" dirty="0"/>
              <a:t> (medio de pago), </a:t>
            </a:r>
            <a:r>
              <a:rPr lang="es-MX" dirty="0" err="1"/>
              <a:t>Adapter</a:t>
            </a:r>
            <a:r>
              <a:rPr lang="es-MX" dirty="0"/>
              <a:t> (pasarela/fidelización), </a:t>
            </a:r>
            <a:r>
              <a:rPr lang="es-MX" dirty="0" err="1"/>
              <a:t>Repository</a:t>
            </a:r>
            <a:endParaRPr lang="es-MX" dirty="0"/>
          </a:p>
          <a:p>
            <a:pPr algn="just"/>
            <a:r>
              <a:rPr lang="es-MX" dirty="0"/>
              <a:t>(transacciones/</a:t>
            </a:r>
            <a:r>
              <a:rPr lang="es-MX" dirty="0" err="1"/>
              <a:t>idempotencia</a:t>
            </a:r>
            <a:r>
              <a:rPr lang="es-MX" dirty="0"/>
              <a:t>), </a:t>
            </a:r>
            <a:r>
              <a:rPr lang="es-MX" dirty="0" err="1"/>
              <a:t>Circuit</a:t>
            </a:r>
            <a:r>
              <a:rPr lang="es-MX" dirty="0"/>
              <a:t> Breaker + </a:t>
            </a:r>
            <a:r>
              <a:rPr lang="es-MX" dirty="0" err="1"/>
              <a:t>Retry</a:t>
            </a:r>
            <a:r>
              <a:rPr lang="es-MX" dirty="0"/>
              <a:t> (resiliencia).</a:t>
            </a:r>
            <a:endParaRPr lang="es-CO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13800C7C-DF1C-4E95-82F9-3D2B6B46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82816"/>
              </p:ext>
            </p:extLst>
          </p:nvPr>
        </p:nvGraphicFramePr>
        <p:xfrm>
          <a:off x="503257" y="2374110"/>
          <a:ext cx="7699448" cy="3427592"/>
        </p:xfrm>
        <a:graphic>
          <a:graphicData uri="http://schemas.openxmlformats.org/drawingml/2006/table">
            <a:tbl>
              <a:tblPr/>
              <a:tblGrid>
                <a:gridCol w="3005667">
                  <a:extLst>
                    <a:ext uri="{9D8B030D-6E8A-4147-A177-3AD203B41FA5}">
                      <a16:colId xmlns:a16="http://schemas.microsoft.com/office/drawing/2014/main" val="852686087"/>
                    </a:ext>
                  </a:extLst>
                </a:gridCol>
                <a:gridCol w="4693781">
                  <a:extLst>
                    <a:ext uri="{9D8B030D-6E8A-4147-A177-3AD203B41FA5}">
                      <a16:colId xmlns:a16="http://schemas.microsoft.com/office/drawing/2014/main" val="1380774042"/>
                    </a:ext>
                  </a:extLst>
                </a:gridCol>
              </a:tblGrid>
              <a:tr h="434062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94664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</a:t>
                      </a:r>
                      <a:r>
                        <a:rPr lang="es-CO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React</a:t>
                      </a:r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CO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Native</a:t>
                      </a:r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Catálogo, puntos, movimientos y pago.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438177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Admin React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Operación: monitoreo/soporte (PoC).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855974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Apigee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Compatibilidad +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limiting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662891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Gateway + WAF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 AWS +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WebSocket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realtime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117256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Cognito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OAuth2/JWT + MFA/OTP.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474615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BFF (Lambda)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Agrega/transforma y oculta credenciales.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512996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Payments API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Intents</a:t>
                      </a:r>
                      <a:r>
                        <a:rPr lang="es-MX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autorización/captura, pago con puntos.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752490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 Functions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Saga: pasos, reintentos, compensación.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210493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EventBridge/SQS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Eventos, notificaciones, ERP y DLQ.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751247"/>
                  </a:ext>
                </a:extLst>
              </a:tr>
              <a:tr h="29935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CloudWatch</a:t>
                      </a:r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/X-</a:t>
                      </a:r>
                      <a:r>
                        <a:rPr lang="es-CO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ray</a:t>
                      </a:r>
                      <a:endParaRPr lang="es-CO" sz="1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Logs/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metricas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Observabilidad</a:t>
                      </a:r>
                      <a:endParaRPr lang="es-CO" sz="1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002886"/>
                  </a:ext>
                </a:extLst>
              </a:tr>
            </a:tbl>
          </a:graphicData>
        </a:graphic>
      </p:graphicFrame>
      <p:pic>
        <p:nvPicPr>
          <p:cNvPr id="45070" name="Picture 14" descr="https://miro.medium.com/v2/resize:fit:700/1*cYO43FtzuWkktgnmLfj61A.jpeg">
            <a:extLst>
              <a:ext uri="{FF2B5EF4-FFF2-40B4-BE49-F238E27FC236}">
                <a16:creationId xmlns:a16="http://schemas.microsoft.com/office/drawing/2014/main" id="{959E44A9-D5ED-440C-B083-D3B8DE62B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092" y="4417546"/>
            <a:ext cx="2777938" cy="157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27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577976" y="2159420"/>
            <a:ext cx="7476812" cy="36671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5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203570" y="432849"/>
            <a:ext cx="69685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Flujos Transaccionales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3054945" y="1713356"/>
            <a:ext cx="2522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Pago con tarjeta</a:t>
            </a:r>
            <a:endParaRPr lang="es-CO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96B728-7FC3-45CD-ABF2-1B89B31106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298" y="2292548"/>
            <a:ext cx="6754168" cy="34009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1D873AF-5562-4ABE-9078-556B2A17BA6B}"/>
              </a:ext>
            </a:extLst>
          </p:cNvPr>
          <p:cNvSpPr/>
          <p:nvPr/>
        </p:nvSpPr>
        <p:spPr>
          <a:xfrm>
            <a:off x="8310282" y="3024643"/>
            <a:ext cx="3514413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 err="1">
                <a:latin typeface="Arial" panose="020B0604020202020204" pitchFamily="34" charset="0"/>
              </a:rPr>
              <a:t>Errores</a:t>
            </a:r>
            <a:r>
              <a:rPr lang="en-US" sz="1700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</a:rPr>
              <a:t>declined (no retry)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</a:rPr>
              <a:t>5xx/timeouts (retry </a:t>
            </a:r>
            <a:r>
              <a:rPr lang="en-US" sz="1700" dirty="0" err="1">
                <a:latin typeface="Arial" panose="020B0604020202020204" pitchFamily="34" charset="0"/>
              </a:rPr>
              <a:t>backoff</a:t>
            </a:r>
            <a:r>
              <a:rPr lang="en-US" sz="1700" dirty="0">
                <a:latin typeface="Arial" panose="020B0604020202020204" pitchFamily="34" charset="0"/>
              </a:rPr>
              <a:t> 2-3)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Arial" panose="020B0604020202020204" pitchFamily="34" charset="0"/>
              </a:rPr>
              <a:t>Confirmación</a:t>
            </a:r>
            <a:r>
              <a:rPr lang="en-US" sz="1700" dirty="0">
                <a:latin typeface="Arial" panose="020B0604020202020204" pitchFamily="34" charset="0"/>
              </a:rPr>
              <a:t> (WebSocket + </a:t>
            </a:r>
            <a:r>
              <a:rPr lang="en-US" sz="1700" dirty="0" err="1">
                <a:latin typeface="Arial" panose="020B0604020202020204" pitchFamily="34" charset="0"/>
              </a:rPr>
              <a:t>reintento</a:t>
            </a:r>
            <a:r>
              <a:rPr lang="en-US" sz="1700" dirty="0">
                <a:latin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</a:rPr>
              <a:t>vía</a:t>
            </a:r>
            <a:r>
              <a:rPr lang="en-US" sz="1700" dirty="0">
                <a:latin typeface="Arial" panose="020B0604020202020204" pitchFamily="34" charset="0"/>
              </a:rPr>
              <a:t> </a:t>
            </a:r>
            <a:r>
              <a:rPr lang="es-CO" sz="1700" dirty="0">
                <a:latin typeface="Arial" panose="020B0604020202020204" pitchFamily="34" charset="0"/>
              </a:rPr>
              <a:t>SQS/DLQ).</a:t>
            </a:r>
            <a:endParaRPr lang="es-CO" sz="1700" dirty="0"/>
          </a:p>
        </p:txBody>
      </p:sp>
    </p:spTree>
    <p:extLst>
      <p:ext uri="{BB962C8B-B14F-4D97-AF65-F5344CB8AC3E}">
        <p14:creationId xmlns:p14="http://schemas.microsoft.com/office/powerpoint/2010/main" val="402591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1338207" y="2047116"/>
            <a:ext cx="8699271" cy="389175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8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203570" y="432849"/>
            <a:ext cx="69685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Flujos Transaccionales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4583271" y="1434633"/>
            <a:ext cx="2522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Pago con puntos</a:t>
            </a:r>
            <a:endParaRPr lang="es-CO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2979C23-A282-414A-8B53-67A8009AA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8863" y="2330649"/>
            <a:ext cx="6677957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9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9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203570" y="432849"/>
            <a:ext cx="69685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Modelo de datos y </a:t>
            </a:r>
            <a:r>
              <a:rPr lang="es-ES" sz="3200" b="1" dirty="0" err="1">
                <a:solidFill>
                  <a:srgbClr val="002060"/>
                </a:solidFill>
              </a:rPr>
              <a:t>APIs</a:t>
            </a:r>
            <a:endParaRPr lang="es-ES" sz="3200" b="1" dirty="0">
              <a:solidFill>
                <a:srgbClr val="002060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484896" y="1357269"/>
            <a:ext cx="25228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Entidades Principales</a:t>
            </a:r>
            <a:endParaRPr lang="es-CO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82B5B81-75C4-4D49-9C8F-63ABA3A4F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902467"/>
              </p:ext>
            </p:extLst>
          </p:nvPr>
        </p:nvGraphicFramePr>
        <p:xfrm>
          <a:off x="484896" y="2007458"/>
          <a:ext cx="11272371" cy="1836243"/>
        </p:xfrm>
        <a:graphic>
          <a:graphicData uri="http://schemas.openxmlformats.org/drawingml/2006/table">
            <a:tbl>
              <a:tblPr/>
              <a:tblGrid>
                <a:gridCol w="1334994">
                  <a:extLst>
                    <a:ext uri="{9D8B030D-6E8A-4147-A177-3AD203B41FA5}">
                      <a16:colId xmlns:a16="http://schemas.microsoft.com/office/drawing/2014/main" val="75072496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00216425"/>
                    </a:ext>
                  </a:extLst>
                </a:gridCol>
                <a:gridCol w="4450977">
                  <a:extLst>
                    <a:ext uri="{9D8B030D-6E8A-4147-A177-3AD203B41FA5}">
                      <a16:colId xmlns:a16="http://schemas.microsoft.com/office/drawing/2014/main" val="4222760165"/>
                    </a:ext>
                  </a:extLst>
                </a:gridCol>
              </a:tblGrid>
              <a:tr h="493218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Entidad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Campos clave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Observaciones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8115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Usuario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docType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docNumber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cognitoSub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Login por documento </a:t>
                      </a:r>
                      <a:r>
                        <a:rPr lang="it-IT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it-IT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OTP/MFA (Cognito).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8678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Billetera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userId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pointsBalance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status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Saldo + estado.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9355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Comercio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stationId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callbackUrl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Realtime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por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WebSocket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callback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7760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Transacción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id, userId, merchantId, amount, status, idempotencyKey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Conciliación/soporte.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778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Medio_Pago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tokenRef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last4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Tokenización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(sin PAN).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625499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5D09E2F-F76E-49E6-82F4-D8CDD1C56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674242"/>
              </p:ext>
            </p:extLst>
          </p:nvPr>
        </p:nvGraphicFramePr>
        <p:xfrm>
          <a:off x="484896" y="4578253"/>
          <a:ext cx="11240939" cy="1971025"/>
        </p:xfrm>
        <a:graphic>
          <a:graphicData uri="http://schemas.openxmlformats.org/drawingml/2006/table">
            <a:tbl>
              <a:tblPr/>
              <a:tblGrid>
                <a:gridCol w="1303563">
                  <a:extLst>
                    <a:ext uri="{9D8B030D-6E8A-4147-A177-3AD203B41FA5}">
                      <a16:colId xmlns:a16="http://schemas.microsoft.com/office/drawing/2014/main" val="31812343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874583535"/>
                    </a:ext>
                  </a:extLst>
                </a:gridCol>
                <a:gridCol w="2729753">
                  <a:extLst>
                    <a:ext uri="{9D8B030D-6E8A-4147-A177-3AD203B41FA5}">
                      <a16:colId xmlns:a16="http://schemas.microsoft.com/office/drawing/2014/main" val="2504278171"/>
                    </a:ext>
                  </a:extLst>
                </a:gridCol>
                <a:gridCol w="3321423">
                  <a:extLst>
                    <a:ext uri="{9D8B030D-6E8A-4147-A177-3AD203B41FA5}">
                      <a16:colId xmlns:a16="http://schemas.microsoft.com/office/drawing/2014/main" val="1203807413"/>
                    </a:ext>
                  </a:extLst>
                </a:gridCol>
              </a:tblGrid>
              <a:tr h="35939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Método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Ruta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Descripción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Observaciones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970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/v1/catalog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Catálogo.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BFF -&gt; Basic upstream.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5253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/v1/customers/{doc}/points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Puntos.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JWT + cache.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552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/v1/customers/{doc}/movements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Movimientos.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page/pageSize=4.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4422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POST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/v1/payments/intents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Crear intento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Idempotency-Key.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4211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POST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/v1/payments/{id}/confirm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Confirmar.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Callback pasarela.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02440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/v1/payments/{id}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Estado.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Polling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CO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fallback</a:t>
                      </a:r>
                      <a:r>
                        <a:rPr lang="es-CO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90178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8E49E08C-7D32-4016-85FF-A4E70056C930}"/>
              </a:ext>
            </a:extLst>
          </p:cNvPr>
          <p:cNvSpPr txBox="1"/>
          <p:nvPr/>
        </p:nvSpPr>
        <p:spPr>
          <a:xfrm>
            <a:off x="484896" y="4064489"/>
            <a:ext cx="25228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Endpoints</a:t>
            </a: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 Principales</a:t>
            </a:r>
            <a:endParaRPr lang="es-CO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57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470398" y="1083038"/>
            <a:ext cx="11134414" cy="54098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Seguridad: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OAuth2/JWT (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Cognito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MFA/OTP; cifrado TLS + KMS;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secrets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Secrets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Manager;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tokenización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 PAN) para minimizar PCI, WAF: protección OWASP/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limiting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Escalabilidad: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Lambda/ECS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auto-scaling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horas pico; SQS desacopla picos; cache TTL para tokens/catálogos. </a:t>
            </a:r>
          </a:p>
          <a:p>
            <a:pPr algn="just"/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Observabilidad</a:t>
            </a:r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CloudWatch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X-Ray/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OTel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métricas p95, error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alarmas (DLQ, fallos pasarela, declines). </a:t>
            </a:r>
          </a:p>
          <a:p>
            <a:pPr algn="just"/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Despliegue: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IaC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(CDK/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Terraform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 CI/CD con despliegue blue/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Pruebas: 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unitarias (reglas,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idempotencia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integración (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endpoints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paginación 4 +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callbacks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E2E (flujo</a:t>
            </a:r>
          </a:p>
          <a:p>
            <a:pPr algn="just"/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completo con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sandbox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Excepciones: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401/403 (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refresh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retry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vez en lectura), 429 (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backoff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5xx/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timeouts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retry+jitter+circuit</a:t>
            </a:r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breaker), negocio (saldo insuficiente), compensación en saga.</a:t>
            </a:r>
          </a:p>
          <a:p>
            <a:pPr algn="just"/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debe consumir los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endpoints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actuales desde </a:t>
            </a:r>
            <a:r>
              <a:rPr lang="es-CO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CO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/BFF para no exponer credenciales en el móvil.</a:t>
            </a:r>
          </a:p>
        </p:txBody>
      </p:sp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4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203570" y="432849"/>
            <a:ext cx="69685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No funcionales </a:t>
            </a:r>
          </a:p>
        </p:txBody>
      </p:sp>
    </p:spTree>
    <p:extLst>
      <p:ext uri="{BB962C8B-B14F-4D97-AF65-F5344CB8AC3E}">
        <p14:creationId xmlns:p14="http://schemas.microsoft.com/office/powerpoint/2010/main" val="232899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6096000" y="1296628"/>
            <a:ext cx="5777566" cy="28094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Prueba Técnica </a:t>
            </a:r>
            <a:r>
              <a:rPr kumimoji="0" lang="es-CO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FrontEnd</a:t>
            </a: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-Terpel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sp>
        <p:nvSpPr>
          <p:cNvPr id="12" name="CuadroTexto 90">
            <a:extLst>
              <a:ext uri="{FF2B5EF4-FFF2-40B4-BE49-F238E27FC236}">
                <a16:creationId xmlns:a16="http://schemas.microsoft.com/office/drawing/2014/main" id="{3E7099C5-5C38-A184-5FB6-DFC647FE6C3E}"/>
              </a:ext>
            </a:extLst>
          </p:cNvPr>
          <p:cNvSpPr txBox="1"/>
          <p:nvPr/>
        </p:nvSpPr>
        <p:spPr>
          <a:xfrm>
            <a:off x="2203570" y="432849"/>
            <a:ext cx="69685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002060"/>
                </a:solidFill>
              </a:rPr>
              <a:t>Decisiones Técnicas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BC649F2-B17A-4BFD-8A0F-08A95472AF6B}"/>
              </a:ext>
            </a:extLst>
          </p:cNvPr>
          <p:cNvSpPr txBox="1"/>
          <p:nvPr/>
        </p:nvSpPr>
        <p:spPr>
          <a:xfrm>
            <a:off x="741272" y="1296627"/>
            <a:ext cx="498717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Como la app debe hablar con servicios con autenticaciones distintas, centralizo la complejidad en un BFF: Maneja Basic y token corto, Normaliza errores, Controla paginación (movimientos 4 por página),Permite soporte multiusuario basado en documento.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358BECF-F46A-47D1-93A4-DB39523B962B}"/>
              </a:ext>
            </a:extLst>
          </p:cNvPr>
          <p:cNvSpPr/>
          <p:nvPr/>
        </p:nvSpPr>
        <p:spPr>
          <a:xfrm>
            <a:off x="741272" y="3227294"/>
            <a:ext cx="4987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Con BFF evito exponer lógica de autenticación y rotación de tokens en el móvil, reduzco duplicación, y controlo seguridad y observabilidad desde backend.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6055F14-A3D8-44BA-8D4C-B09483CD1EA0}"/>
              </a:ext>
            </a:extLst>
          </p:cNvPr>
          <p:cNvSpPr/>
          <p:nvPr/>
        </p:nvSpPr>
        <p:spPr>
          <a:xfrm>
            <a:off x="741272" y="4706625"/>
            <a:ext cx="498717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La pasarela se integra por adaptador, aislando </a:t>
            </a:r>
            <a:r>
              <a:rPr lang="es-MX" sz="1700" dirty="0" err="1">
                <a:latin typeface="Arial" panose="020B0604020202020204" pitchFamily="34" charset="0"/>
                <a:cs typeface="Arial" panose="020B0604020202020204" pitchFamily="34" charset="0"/>
              </a:rPr>
              <a:t>vendor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700" dirty="0" err="1">
                <a:latin typeface="Arial" panose="020B0604020202020204" pitchFamily="34" charset="0"/>
                <a:cs typeface="Arial" panose="020B0604020202020204" pitchFamily="34" charset="0"/>
              </a:rPr>
              <a:t>lock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-in.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2F7CC6B-349E-4788-AE98-1D48B41F54FD}"/>
              </a:ext>
            </a:extLst>
          </p:cNvPr>
          <p:cNvSpPr/>
          <p:nvPr/>
        </p:nvSpPr>
        <p:spPr>
          <a:xfrm>
            <a:off x="741272" y="5601180"/>
            <a:ext cx="49871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sistemas internos (fidelización/ERP/facturación) se integran por eventos 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según necesidad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97C50AF-FED6-4FF1-8B5C-DF7A59E6ECE5}"/>
              </a:ext>
            </a:extLst>
          </p:cNvPr>
          <p:cNvSpPr/>
          <p:nvPr/>
        </p:nvSpPr>
        <p:spPr>
          <a:xfrm>
            <a:off x="6333565" y="1397599"/>
            <a:ext cx="548986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Para pagos separo microservicios por </a:t>
            </a:r>
            <a:r>
              <a:rPr lang="es-CO" sz="1700" dirty="0" err="1">
                <a:latin typeface="Arial" panose="020B0604020202020204" pitchFamily="34" charset="0"/>
                <a:cs typeface="Arial" panose="020B0604020202020204" pitchFamily="34" charset="0"/>
              </a:rPr>
              <a:t>bounded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dirty="0" err="1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Orchestrator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 (inicia/coordina SAGA),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 / Gateway </a:t>
            </a: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Adapter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1700" dirty="0" err="1">
                <a:latin typeface="Arial" panose="020B0604020202020204" pitchFamily="34" charset="0"/>
                <a:cs typeface="Arial" panose="020B0604020202020204" pitchFamily="34" charset="0"/>
              </a:rPr>
              <a:t>tokeniza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/paga con pasarela),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Loyalty</a:t>
            </a: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 (puntos: consulta, </a:t>
            </a:r>
            <a:r>
              <a:rPr lang="es-CO" sz="1700" dirty="0" err="1">
                <a:latin typeface="Arial" panose="020B0604020202020204" pitchFamily="34" charset="0"/>
                <a:cs typeface="Arial" panose="020B0604020202020204" pitchFamily="34" charset="0"/>
              </a:rPr>
              <a:t>hold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1700" dirty="0" err="1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1700" dirty="0" err="1"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Merchant/</a:t>
            </a: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Stores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 (datos comercio, terminal, confirmación),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Ledger</a:t>
            </a:r>
            <a:r>
              <a:rPr lang="es-CO" sz="17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CO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r>
              <a:rPr lang="es-CO" sz="1700" dirty="0">
                <a:latin typeface="Arial" panose="020B0604020202020204" pitchFamily="34" charset="0"/>
                <a:cs typeface="Arial" panose="020B0604020202020204" pitchFamily="34" charset="0"/>
              </a:rPr>
              <a:t> (registro contable/auditoría)</a:t>
            </a:r>
          </a:p>
        </p:txBody>
      </p:sp>
      <p:sp>
        <p:nvSpPr>
          <p:cNvPr id="23" name="Rectángulo redondeado 5">
            <a:extLst>
              <a:ext uri="{FF2B5EF4-FFF2-40B4-BE49-F238E27FC236}">
                <a16:creationId xmlns:a16="http://schemas.microsoft.com/office/drawing/2014/main" id="{74A9C9BD-9C5B-4AD5-9B17-4024808057ED}"/>
              </a:ext>
            </a:extLst>
          </p:cNvPr>
          <p:cNvSpPr/>
          <p:nvPr/>
        </p:nvSpPr>
        <p:spPr>
          <a:xfrm>
            <a:off x="6096000" y="4101345"/>
            <a:ext cx="5777566" cy="20379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</a:t>
            </a:r>
            <a:r>
              <a:rPr lang="es-MX" sz="17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EventBridge</a:t>
            </a:r>
            <a:r>
              <a:rPr lang="es-MX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/SNS/SQS para:</a:t>
            </a:r>
          </a:p>
          <a:p>
            <a:endParaRPr lang="es-MX" sz="1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confirmación en tiempo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notificaciones al usuario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reintentos diferidos,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DLQ para fallas no recuperables</a:t>
            </a:r>
            <a:endParaRPr lang="es-CO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16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Marcador de número de diapositiva 320"/>
          <p:cNvSpPr>
            <a:spLocks noGrp="1"/>
          </p:cNvSpPr>
          <p:nvPr>
            <p:ph type="sldNum" sz="quarter" idx="12"/>
          </p:nvPr>
        </p:nvSpPr>
        <p:spPr>
          <a:xfrm>
            <a:off x="9234870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172A7-8148-4B94-ACA8-D721A4863E43}" type="slidenum">
              <a:rPr kumimoji="0" lang="es-CL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9" name="Diapositiva de think-cell" r:id="rId5" imgW="395" imgH="394" progId="TCLayout.ActiveDocument.1">
                  <p:embed/>
                </p:oleObj>
              </mc:Choice>
              <mc:Fallback>
                <p:oleObj name="Diapositiva de think-cell" r:id="rId5" imgW="395" imgH="394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" name="Marcador de fecha 319"/>
          <p:cNvSpPr>
            <a:spLocks noGrp="1"/>
          </p:cNvSpPr>
          <p:nvPr>
            <p:ph type="dt" sz="half" idx="10"/>
          </p:nvPr>
        </p:nvSpPr>
        <p:spPr>
          <a:xfrm>
            <a:off x="9445077" y="230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F20B5C-02A4-4B1B-A423-C0180697BB9C}" type="datetime4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diciembre de 2025</a:t>
            </a:fld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6598D63-1932-50BC-0A72-E8B7F680FFCF}"/>
              </a:ext>
            </a:extLst>
          </p:cNvPr>
          <p:cNvSpPr txBox="1">
            <a:spLocks/>
          </p:cNvSpPr>
          <p:nvPr/>
        </p:nvSpPr>
        <p:spPr>
          <a:xfrm>
            <a:off x="88248" y="112397"/>
            <a:ext cx="2522872" cy="255038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RETO TÉCNICO BANCO DE BOGOTA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A3AAD2F2-BD20-EE2E-7EA5-3D13DB480B92}"/>
              </a:ext>
            </a:extLst>
          </p:cNvPr>
          <p:cNvSpPr txBox="1"/>
          <p:nvPr/>
        </p:nvSpPr>
        <p:spPr>
          <a:xfrm>
            <a:off x="-1651307" y="-2658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294" y="2152012"/>
            <a:ext cx="4572786" cy="311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81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1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tents Slide Master">
  <a:themeElements>
    <a:clrScheme name="ALLPPT-Artificial Intelligen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4C93DF"/>
      </a:accent3>
      <a:accent4>
        <a:srgbClr val="F77660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bc37acbd-b0b7-42c3-9ba1-712ea90bf470" xsi:nil="true"/>
    <lcf76f155ced4ddcb4097134ff3c332f xmlns="621b7943-1b8e-4fc4-8de0-7d4e846a938b">
      <Terms xmlns="http://schemas.microsoft.com/office/infopath/2007/PartnerControls"/>
    </lcf76f155ced4ddcb4097134ff3c332f>
    <_ip_UnifiedCompliancePolicyProperties xmlns="http://schemas.microsoft.com/sharepoint/v3" xsi:nil="true"/>
    <_Flow_SignoffStatus xmlns="621b7943-1b8e-4fc4-8de0-7d4e846a93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C18C139D93EF84DBBC4241051CD418A" ma:contentTypeVersion="21" ma:contentTypeDescription="Crear nuevo documento." ma:contentTypeScope="" ma:versionID="1379b8fa164a395c28a8eeb6c1eed07c">
  <xsd:schema xmlns:xsd="http://www.w3.org/2001/XMLSchema" xmlns:xs="http://www.w3.org/2001/XMLSchema" xmlns:p="http://schemas.microsoft.com/office/2006/metadata/properties" xmlns:ns1="http://schemas.microsoft.com/sharepoint/v3" xmlns:ns2="621b7943-1b8e-4fc4-8de0-7d4e846a938b" xmlns:ns3="bc37acbd-b0b7-42c3-9ba1-712ea90bf470" targetNamespace="http://schemas.microsoft.com/office/2006/metadata/properties" ma:root="true" ma:fieldsID="6bd5afb66c00920621b450dabeeead0b" ns1:_="" ns2:_="" ns3:_="">
    <xsd:import namespace="http://schemas.microsoft.com/sharepoint/v3"/>
    <xsd:import namespace="621b7943-1b8e-4fc4-8de0-7d4e846a938b"/>
    <xsd:import namespace="bc37acbd-b0b7-42c3-9ba1-712ea90bf4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1b7943-1b8e-4fc4-8de0-7d4e846a9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6" nillable="true" ma:displayName="Estado de aprobación" ma:internalName="Estado_x0020_de_x0020_aprobaci_x00f3_n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b4137601-b23d-474a-8fe2-d3aeae6162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37acbd-b0b7-42c3-9ba1-712ea90bf47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b46017f-2950-4ded-a1df-1e50c5f38656}" ma:internalName="TaxCatchAll" ma:showField="CatchAllData" ma:web="bc37acbd-b0b7-42c3-9ba1-712ea90bf4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B7BDCE-FF30-4E68-8A75-A452D630864D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sharepoint/v3"/>
    <ds:schemaRef ds:uri="bc37acbd-b0b7-42c3-9ba1-712ea90bf470"/>
    <ds:schemaRef ds:uri="http://schemas.openxmlformats.org/package/2006/metadata/core-properties"/>
    <ds:schemaRef ds:uri="http://purl.org/dc/terms/"/>
    <ds:schemaRef ds:uri="621b7943-1b8e-4fc4-8de0-7d4e846a938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CCC241-F147-4DD3-AA22-0017E826AB8D}">
  <ds:schemaRefs>
    <ds:schemaRef ds:uri="621b7943-1b8e-4fc4-8de0-7d4e846a938b"/>
    <ds:schemaRef ds:uri="bc37acbd-b0b7-42c3-9ba1-712ea90bf4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3748813-F624-426A-AE46-1FDB60FF73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22600</TotalTime>
  <Words>1081</Words>
  <Application>Microsoft Office PowerPoint</Application>
  <PresentationFormat>Panorámica</PresentationFormat>
  <Paragraphs>172</Paragraphs>
  <Slides>10</Slides>
  <Notes>10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Arial</vt:lpstr>
      <vt:lpstr>Arial Unicode MS</vt:lpstr>
      <vt:lpstr>Calibri</vt:lpstr>
      <vt:lpstr>Calibri Light</vt:lpstr>
      <vt:lpstr>Segoe UI Semilight</vt:lpstr>
      <vt:lpstr>Times New Roman</vt:lpstr>
      <vt:lpstr>Wingdings</vt:lpstr>
      <vt:lpstr>Contents Slide Master</vt:lpstr>
      <vt:lpstr>1_Tema de Office</vt:lpstr>
      <vt:lpstr>Diapositiva de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Carolina Arias Guzman</dc:creator>
  <cp:lastModifiedBy>Oscar Leonardo Corredor Silva</cp:lastModifiedBy>
  <cp:revision>890</cp:revision>
  <dcterms:created xsi:type="dcterms:W3CDTF">2023-10-06T17:25:31Z</dcterms:created>
  <dcterms:modified xsi:type="dcterms:W3CDTF">2025-12-24T18:36:20Z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0x0101000C18C139D93EF84DBBC4241051CD418A</vt:lpwstr>
  </property>
  <property fmtid="{D5CDD505-2E9C-101B-9397-08002B2CF9AE}" pid="3" name="MediaServiceImageTags">
    <vt:lpwstr/>
  </property>
</Properties>
</file>